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Arial Black" panose="020B0A04020102020204" pitchFamily="34" charset="0"/>
      <p:bold r:id="rId17"/>
    </p:embeddedFont>
    <p:embeddedFont>
      <p:font typeface="Bahnschrift Condensed" panose="020B0502040204020203" pitchFamily="34" charset="0"/>
      <p:regular r:id="rId18"/>
      <p:bold r:id="rId19"/>
    </p:embeddedFont>
    <p:embeddedFont>
      <p:font typeface="Bahnschrift SemiBold" panose="020B0502040204020203" pitchFamily="34" charset="0"/>
      <p:bold r:id="rId20"/>
    </p:embeddedFont>
    <p:embeddedFont>
      <p:font typeface="Bahnschrift SemiBold Condensed" panose="020B0502040204020203" pitchFamily="34" charset="0"/>
      <p:bold r:id="rId21"/>
    </p:embeddedFont>
    <p:embeddedFont>
      <p:font typeface="Bahnschrift SemiBold SemiConden" panose="020B0502040204020203" pitchFamily="34" charset="0"/>
      <p:bold r:id="rId22"/>
    </p:embeddedFont>
    <p:embeddedFont>
      <p:font typeface="Cambria Math" panose="02040503050406030204" pitchFamily="18" charset="0"/>
      <p:regular r:id="rId23"/>
    </p:embeddedFont>
    <p:embeddedFont>
      <p:font typeface="Rockwell" panose="02060603020205020403" pitchFamily="18" charset="0"/>
      <p:regular r:id="rId24"/>
      <p:bold r:id="rId25"/>
      <p:italic r:id="rId26"/>
      <p:boldItalic r:id="rId27"/>
    </p:embeddedFont>
    <p:embeddedFont>
      <p:font typeface="Yantramanav Black" panose="02000000000000000000" pitchFamily="2" charset="0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20" autoAdjust="0"/>
  </p:normalViewPr>
  <p:slideViewPr>
    <p:cSldViewPr snapToGrid="0">
      <p:cViewPr varScale="1">
        <p:scale>
          <a:sx n="115" d="100"/>
          <a:sy n="115" d="100"/>
        </p:scale>
        <p:origin x="37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9C8BB-EEBC-4937-993D-346A253628FD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6DDC57-0C14-4A53-9368-B3A8AB1F6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07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DDC57-0C14-4A53-9368-B3A8AB1F64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31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50516-C50B-C796-993F-F98B5476F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285B6-58A3-B756-9A1E-C1F84AC84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675B4-5909-B341-79B5-1B5472BE6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C8A4-8477-41D2-973D-A8B757116AE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CC8B4-CF76-9527-EECA-0356C203D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98D5A-A8DB-5CB9-4229-C958CC152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5211-2819-4100-A257-F069309F2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22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4B718-B486-5864-3251-960722048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D641E-1FF4-E7CB-B95D-933C1CC81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9CB49-7FF8-6054-C950-9782BEB53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C8A4-8477-41D2-973D-A8B757116AE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FD28F-8BC1-6322-A55C-4603B1C33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673A8-12BF-805E-F042-6344C050B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5211-2819-4100-A257-F069309F2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9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626C8-89CD-9FA0-181B-FC8A677C1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F32DE-65DB-E7F9-1670-05BA97FFB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8A74E-E774-6751-F9DD-1394D636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C8A4-8477-41D2-973D-A8B757116AE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67517-7A0F-C2BC-E08C-352B0EC7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42F94-2740-6062-DE05-51BAB5FCC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5211-2819-4100-A257-F069309F2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1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0E03-4FDC-49E7-B31E-14B696B8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A01C5-C27F-4864-F376-A81691C19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055C1-3DAD-C036-9BBD-DB455BD56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F34EF-588B-F5C3-F285-DD1E5C56D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C8A4-8477-41D2-973D-A8B757116AE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D37C4-7B50-2935-F332-A22CCD18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E8148-D7FA-1168-5EC2-43E4147E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5211-2819-4100-A257-F069309F2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63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F8928-7270-03A3-A04E-A28F48320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DC7DE-044B-B34A-CF4D-FCF3754B9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AB02C-1BFF-C83B-4986-33E16A6D9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D2146-E751-E712-ED1A-4DD9798EC7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7F4ADD-C4AE-2C0E-BB57-152C93469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75E3DB-5940-BD63-8F87-A6875E608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C8A4-8477-41D2-973D-A8B757116AE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173C25-69A9-9A2D-F63B-A49C83E6F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0C0B7-4B00-4114-4265-8F8F66CA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5211-2819-4100-A257-F069309F2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8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CFFBA-6A7D-9F65-2303-EC9E38186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B81AD-A1C8-A9E2-1BF3-DDEA9EE0B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C8A4-8477-41D2-973D-A8B757116AE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F8584-B869-5481-2C5C-A3BA00321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F332C-38E1-E662-593A-1B60AC318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5211-2819-4100-A257-F069309F2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614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A32471-A745-3553-3D77-84BE2D8C9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C8A4-8477-41D2-973D-A8B757116AE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EB28C3-7F73-C272-2E65-41B2D6EFF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59E11-2828-79F6-A0D6-9FFC20038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5211-2819-4100-A257-F069309F2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68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3C8F-5E17-B9AD-D7EF-21D62E84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2B162-012B-D3F0-3E3C-CBD13ED94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64F9E-7E41-7510-03DF-0A7C4B423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9FC80-9D78-927C-0B7F-3FDB0CD3E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C8A4-8477-41D2-973D-A8B757116AE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D3BA1-3CB2-8AFE-6AE2-2578DCE6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7C329-AEBE-A9D3-6DE5-1D4256EF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5211-2819-4100-A257-F069309F2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39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8D252-BCB8-FEFB-A09A-6FD72E87B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8610AF-6DBF-B9D0-B416-13363DBA45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5949C-1CA6-7F5C-EF7B-CD86CF6E1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742AA-2B8D-3759-F9E0-6D3B1CA65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C8A4-8477-41D2-973D-A8B757116AE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F5BBD-EB63-40DA-9FF1-6170FA33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BB7C9-B730-00E1-62F0-B9D31ABCE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5211-2819-4100-A257-F069309F2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49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AFF8D-4516-E7D3-E937-B69B694C3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D1DF4-BA0E-CB18-638D-1B588C6BD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254C8-CE10-4059-9C30-2679904AC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C8A4-8477-41D2-973D-A8B757116AE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0D8B5-22EE-7D66-494C-3F067D11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19DDD-EB06-FCE3-2271-578771EA9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5211-2819-4100-A257-F069309F2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72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39FD1-3C7B-6D04-644D-739107663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29DFE-CC01-4433-C33E-C4EC30B74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3F4B2-28DD-0DF2-9B3C-2421C338F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C8A4-8477-41D2-973D-A8B757116AE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43AAF-76BE-6E65-5322-119B3E605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569FF-7ED4-6F88-43B9-AE26108F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E5211-2819-4100-A257-F069309F2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91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2899C-6FDA-A986-2879-ECD6B503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36865-820A-9406-A8C2-B0EEF3FE4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D4F39-56BE-9E5A-ECC2-4AC0F886F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7C8A4-8477-41D2-973D-A8B757116AE8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BB9BC-E526-B0C5-6D85-E9B5BB925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111A0-608C-3D6F-2D03-E2105F7B6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E5211-2819-4100-A257-F069309F2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92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microsoft.com/office/2007/relationships/hdphoto" Target="../media/hdphoto1.wdp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5.png"/><Relationship Id="rId4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18" Type="http://schemas.openxmlformats.org/officeDocument/2006/relationships/image" Target="../media/image43.png"/><Relationship Id="rId26" Type="http://schemas.openxmlformats.org/officeDocument/2006/relationships/image" Target="../media/image47.jpeg"/><Relationship Id="rId3" Type="http://schemas.openxmlformats.org/officeDocument/2006/relationships/image" Target="../media/image28.svg"/><Relationship Id="rId21" Type="http://schemas.openxmlformats.org/officeDocument/2006/relationships/image" Target="../media/image46.svg"/><Relationship Id="rId7" Type="http://schemas.openxmlformats.org/officeDocument/2006/relationships/image" Target="../media/image32.svg"/><Relationship Id="rId12" Type="http://schemas.openxmlformats.org/officeDocument/2006/relationships/image" Target="../media/image37.png"/><Relationship Id="rId17" Type="http://schemas.openxmlformats.org/officeDocument/2006/relationships/image" Target="../media/image42.svg"/><Relationship Id="rId25" Type="http://schemas.openxmlformats.org/officeDocument/2006/relationships/image" Target="../media/image26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24" Type="http://schemas.openxmlformats.org/officeDocument/2006/relationships/image" Target="../media/image25.png"/><Relationship Id="rId5" Type="http://schemas.openxmlformats.org/officeDocument/2006/relationships/image" Target="../media/image30.svg"/><Relationship Id="rId15" Type="http://schemas.openxmlformats.org/officeDocument/2006/relationships/image" Target="../media/image40.svg"/><Relationship Id="rId23" Type="http://schemas.openxmlformats.org/officeDocument/2006/relationships/image" Target="../media/image12.svg"/><Relationship Id="rId10" Type="http://schemas.openxmlformats.org/officeDocument/2006/relationships/image" Target="../media/image35.png"/><Relationship Id="rId19" Type="http://schemas.openxmlformats.org/officeDocument/2006/relationships/image" Target="../media/image44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Relationship Id="rId14" Type="http://schemas.openxmlformats.org/officeDocument/2006/relationships/image" Target="../media/image39.png"/><Relationship Id="rId22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sv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21" Type="http://schemas.openxmlformats.org/officeDocument/2006/relationships/image" Target="../media/image55.svg"/><Relationship Id="rId34" Type="http://schemas.openxmlformats.org/officeDocument/2006/relationships/image" Target="../media/image45.pn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17" Type="http://schemas.openxmlformats.org/officeDocument/2006/relationships/image" Target="../media/image51.svg"/><Relationship Id="rId25" Type="http://schemas.openxmlformats.org/officeDocument/2006/relationships/image" Target="../media/image59.svg"/><Relationship Id="rId33" Type="http://schemas.openxmlformats.org/officeDocument/2006/relationships/image" Target="../media/image67.svg"/><Relationship Id="rId38" Type="http://schemas.openxmlformats.org/officeDocument/2006/relationships/image" Target="../media/image70.png"/><Relationship Id="rId2" Type="http://schemas.openxmlformats.org/officeDocument/2006/relationships/image" Target="../media/image13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6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37" Type="http://schemas.openxmlformats.org/officeDocument/2006/relationships/image" Target="../media/image69.png"/><Relationship Id="rId5" Type="http://schemas.openxmlformats.org/officeDocument/2006/relationships/image" Target="../media/image16.svg"/><Relationship Id="rId15" Type="http://schemas.openxmlformats.org/officeDocument/2006/relationships/image" Target="../media/image49.svg"/><Relationship Id="rId23" Type="http://schemas.openxmlformats.org/officeDocument/2006/relationships/image" Target="../media/image57.svg"/><Relationship Id="rId28" Type="http://schemas.openxmlformats.org/officeDocument/2006/relationships/image" Target="../media/image62.png"/><Relationship Id="rId36" Type="http://schemas.openxmlformats.org/officeDocument/2006/relationships/image" Target="../media/image68.jpeg"/><Relationship Id="rId10" Type="http://schemas.openxmlformats.org/officeDocument/2006/relationships/image" Target="../media/image21.png"/><Relationship Id="rId19" Type="http://schemas.openxmlformats.org/officeDocument/2006/relationships/image" Target="../media/image53.svg"/><Relationship Id="rId31" Type="http://schemas.openxmlformats.org/officeDocument/2006/relationships/image" Target="../media/image65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svg"/><Relationship Id="rId30" Type="http://schemas.openxmlformats.org/officeDocument/2006/relationships/image" Target="../media/image64.png"/><Relationship Id="rId35" Type="http://schemas.openxmlformats.org/officeDocument/2006/relationships/image" Target="../media/image46.svg"/><Relationship Id="rId8" Type="http://schemas.openxmlformats.org/officeDocument/2006/relationships/image" Target="../media/image19.png"/><Relationship Id="rId3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36.svg"/><Relationship Id="rId18" Type="http://schemas.openxmlformats.org/officeDocument/2006/relationships/image" Target="../media/image75.png"/><Relationship Id="rId3" Type="http://schemas.openxmlformats.org/officeDocument/2006/relationships/image" Target="../media/image10.svg"/><Relationship Id="rId21" Type="http://schemas.openxmlformats.org/officeDocument/2006/relationships/image" Target="../media/image78.svg"/><Relationship Id="rId7" Type="http://schemas.openxmlformats.org/officeDocument/2006/relationships/image" Target="../media/image40.svg"/><Relationship Id="rId12" Type="http://schemas.openxmlformats.org/officeDocument/2006/relationships/image" Target="../media/image35.png"/><Relationship Id="rId17" Type="http://schemas.openxmlformats.org/officeDocument/2006/relationships/image" Target="../media/image74.svg"/><Relationship Id="rId2" Type="http://schemas.openxmlformats.org/officeDocument/2006/relationships/image" Target="../media/image9.png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svg"/><Relationship Id="rId24" Type="http://schemas.openxmlformats.org/officeDocument/2006/relationships/image" Target="../media/image81.png"/><Relationship Id="rId5" Type="http://schemas.openxmlformats.org/officeDocument/2006/relationships/image" Target="../media/image38.svg"/><Relationship Id="rId15" Type="http://schemas.openxmlformats.org/officeDocument/2006/relationships/image" Target="../media/image72.svg"/><Relationship Id="rId23" Type="http://schemas.openxmlformats.org/officeDocument/2006/relationships/image" Target="../media/image80.png"/><Relationship Id="rId10" Type="http://schemas.openxmlformats.org/officeDocument/2006/relationships/image" Target="../media/image43.png"/><Relationship Id="rId19" Type="http://schemas.openxmlformats.org/officeDocument/2006/relationships/image" Target="../media/image76.svg"/><Relationship Id="rId4" Type="http://schemas.openxmlformats.org/officeDocument/2006/relationships/image" Target="../media/image37.png"/><Relationship Id="rId9" Type="http://schemas.openxmlformats.org/officeDocument/2006/relationships/image" Target="../media/image42.svg"/><Relationship Id="rId14" Type="http://schemas.openxmlformats.org/officeDocument/2006/relationships/image" Target="../media/image71.png"/><Relationship Id="rId22" Type="http://schemas.openxmlformats.org/officeDocument/2006/relationships/image" Target="../media/image7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80.png"/><Relationship Id="rId3" Type="http://schemas.openxmlformats.org/officeDocument/2006/relationships/image" Target="../media/image46.svg"/><Relationship Id="rId7" Type="http://schemas.openxmlformats.org/officeDocument/2006/relationships/image" Target="../media/image63.svg"/><Relationship Id="rId12" Type="http://schemas.openxmlformats.org/officeDocument/2006/relationships/image" Target="../media/image7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svg"/><Relationship Id="rId5" Type="http://schemas.openxmlformats.org/officeDocument/2006/relationships/image" Target="../media/image59.svg"/><Relationship Id="rId10" Type="http://schemas.openxmlformats.org/officeDocument/2006/relationships/image" Target="../media/image66.png"/><Relationship Id="rId4" Type="http://schemas.openxmlformats.org/officeDocument/2006/relationships/image" Target="../media/image58.png"/><Relationship Id="rId9" Type="http://schemas.openxmlformats.org/officeDocument/2006/relationships/image" Target="../media/image65.svg"/><Relationship Id="rId14" Type="http://schemas.openxmlformats.org/officeDocument/2006/relationships/image" Target="../media/image8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svg"/><Relationship Id="rId3" Type="http://schemas.openxmlformats.org/officeDocument/2006/relationships/image" Target="../media/image46.svg"/><Relationship Id="rId7" Type="http://schemas.openxmlformats.org/officeDocument/2006/relationships/image" Target="../media/image61.svg"/><Relationship Id="rId12" Type="http://schemas.openxmlformats.org/officeDocument/2006/relationships/image" Target="../media/image6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svg"/><Relationship Id="rId5" Type="http://schemas.openxmlformats.org/officeDocument/2006/relationships/image" Target="../media/image59.svg"/><Relationship Id="rId15" Type="http://schemas.openxmlformats.org/officeDocument/2006/relationships/hyperlink" Target="https://www.youtube.com/watch?v=1Jj-sJ78O6M" TargetMode="External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svg"/><Relationship Id="rId14" Type="http://schemas.openxmlformats.org/officeDocument/2006/relationships/hyperlink" Target="https://www.canva.com/learn/what-is-the-golden-rat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94385A-F455-A904-6714-5A0178156804}"/>
              </a:ext>
            </a:extLst>
          </p:cNvPr>
          <p:cNvSpPr/>
          <p:nvPr/>
        </p:nvSpPr>
        <p:spPr>
          <a:xfrm>
            <a:off x="1785781" y="1195744"/>
            <a:ext cx="8620437" cy="4466511"/>
          </a:xfrm>
          <a:prstGeom prst="roundRect">
            <a:avLst>
              <a:gd name="adj" fmla="val 1775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dist="127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D9574-F503-61BA-46F1-9AA5EDCB336A}"/>
              </a:ext>
            </a:extLst>
          </p:cNvPr>
          <p:cNvSpPr txBox="1"/>
          <p:nvPr/>
        </p:nvSpPr>
        <p:spPr>
          <a:xfrm>
            <a:off x="2549233" y="2607361"/>
            <a:ext cx="7093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Nirmala UI" panose="020B0502040204020203" pitchFamily="34" charset="0"/>
                <a:cs typeface="Arial" panose="020B0604020202020204" pitchFamily="34" charset="0"/>
              </a:rPr>
              <a:t>Fibonacci Sequence And The Golden Rectangle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98545-4CBC-27C3-C62A-092A8D733E7D}"/>
              </a:ext>
            </a:extLst>
          </p:cNvPr>
          <p:cNvSpPr txBox="1"/>
          <p:nvPr/>
        </p:nvSpPr>
        <p:spPr>
          <a:xfrm>
            <a:off x="0" y="6581001"/>
            <a:ext cx="3201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By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Shreyy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Vinay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Madgaonkar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97A78-36AC-D56B-3041-ED1DE6BA6FE4}"/>
              </a:ext>
            </a:extLst>
          </p:cNvPr>
          <p:cNvSpPr txBox="1"/>
          <p:nvPr/>
        </p:nvSpPr>
        <p:spPr>
          <a:xfrm>
            <a:off x="10113816" y="6585711"/>
            <a:ext cx="2078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Class:X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Roll no:06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95295-0D04-20C5-31CF-69D48E100AF2}"/>
              </a:ext>
            </a:extLst>
          </p:cNvPr>
          <p:cNvSpPr txBox="1"/>
          <p:nvPr/>
        </p:nvSpPr>
        <p:spPr>
          <a:xfrm>
            <a:off x="2409370" y="-830997"/>
            <a:ext cx="7373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cs typeface="Arial" panose="020B0604020202020204" pitchFamily="34" charset="0"/>
              </a:rPr>
              <a:t>What’s Fibonacci Sequence?</a:t>
            </a:r>
            <a:endParaRPr lang="en-IN" sz="4800" b="1" dirty="0">
              <a:solidFill>
                <a:schemeClr val="accent1">
                  <a:lumMod val="75000"/>
                </a:schemeClr>
              </a:solidFill>
              <a:latin typeface="Bahnschrift SemiBold SemiConden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4D7B5A-51BA-E243-40DE-E90361CB82C9}"/>
              </a:ext>
            </a:extLst>
          </p:cNvPr>
          <p:cNvSpPr/>
          <p:nvPr/>
        </p:nvSpPr>
        <p:spPr>
          <a:xfrm>
            <a:off x="4506322" y="7159453"/>
            <a:ext cx="3179354" cy="11511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27B446-9C38-EF59-4703-30C71147E43F}"/>
              </a:ext>
            </a:extLst>
          </p:cNvPr>
          <p:cNvSpPr/>
          <p:nvPr/>
        </p:nvSpPr>
        <p:spPr>
          <a:xfrm>
            <a:off x="4405859" y="7073872"/>
            <a:ext cx="3380278" cy="123670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26934DB-0ED9-7A34-A17A-41BB833C9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146" y="7105325"/>
            <a:ext cx="4315703" cy="9925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Formula: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</a:t>
            </a:r>
            <a:r>
              <a:rPr lang="en-US" altLang="en-US" sz="28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</a:t>
            </a:r>
            <a:r>
              <a:rPr lang="en-US" altLang="en-US" sz="36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=F</a:t>
            </a:r>
            <a:r>
              <a:rPr lang="en-US" altLang="en-US" sz="28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n-1+Fn-2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Bahnschrift SemiBold SemiConden" panose="020B0502040204020203" pitchFamily="34" charset="0"/>
              <a:ea typeface="Yu Gothic UI Semibold" panose="020B0700000000000000" pitchFamily="34" charset="-12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0D3A05A-ABF5-9845-8457-61DA80672C82}"/>
              </a:ext>
            </a:extLst>
          </p:cNvPr>
          <p:cNvGrpSpPr/>
          <p:nvPr/>
        </p:nvGrpSpPr>
        <p:grpSpPr>
          <a:xfrm>
            <a:off x="9420886" y="-1843930"/>
            <a:ext cx="1732022" cy="1732022"/>
            <a:chOff x="9782622" y="552449"/>
            <a:chExt cx="1732022" cy="173202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264FA72-6516-3E46-E5F4-4C8459D15C20}"/>
                </a:ext>
              </a:extLst>
            </p:cNvPr>
            <p:cNvSpPr/>
            <p:nvPr/>
          </p:nvSpPr>
          <p:spPr>
            <a:xfrm>
              <a:off x="9782622" y="552449"/>
              <a:ext cx="1732022" cy="1732022"/>
            </a:xfrm>
            <a:prstGeom prst="roundRect">
              <a:avLst>
                <a:gd name="adj" fmla="val 3573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9924DBA-8DC5-40C0-FA51-E9BD5F366FCC}"/>
                </a:ext>
              </a:extLst>
            </p:cNvPr>
            <p:cNvSpPr/>
            <p:nvPr/>
          </p:nvSpPr>
          <p:spPr>
            <a:xfrm>
              <a:off x="9888693" y="658088"/>
              <a:ext cx="1520744" cy="1520744"/>
            </a:xfrm>
            <a:prstGeom prst="roundRect">
              <a:avLst>
                <a:gd name="adj" fmla="val 35731"/>
              </a:avLst>
            </a:prstGeom>
            <a:blipFill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C453D42-9EB9-53BF-9665-52B1F2A0E75A}"/>
              </a:ext>
            </a:extLst>
          </p:cNvPr>
          <p:cNvGrpSpPr/>
          <p:nvPr/>
        </p:nvGrpSpPr>
        <p:grpSpPr>
          <a:xfrm>
            <a:off x="-4574754" y="4700994"/>
            <a:ext cx="4078463" cy="1922522"/>
            <a:chOff x="-496291" y="4744978"/>
            <a:chExt cx="4078463" cy="1922522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5826ED3-CFAA-1BD2-2B5B-C3CCE6AC33B4}"/>
                </a:ext>
              </a:extLst>
            </p:cNvPr>
            <p:cNvSpPr/>
            <p:nvPr/>
          </p:nvSpPr>
          <p:spPr>
            <a:xfrm>
              <a:off x="-496291" y="4744978"/>
              <a:ext cx="4078463" cy="1922522"/>
            </a:xfrm>
            <a:prstGeom prst="roundRect">
              <a:avLst>
                <a:gd name="adj" fmla="val 25763"/>
              </a:avLst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B51949D-62E5-06A0-2BBD-8C97769D228B}"/>
                </a:ext>
              </a:extLst>
            </p:cNvPr>
            <p:cNvSpPr txBox="1"/>
            <p:nvPr/>
          </p:nvSpPr>
          <p:spPr>
            <a:xfrm>
              <a:off x="7008" y="5149216"/>
              <a:ext cx="3413352" cy="141577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0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Bahnschrift SemiBold" panose="020B0502040204020203" pitchFamily="34" charset="0"/>
                </a:rPr>
                <a:t>The Indian mathematician and poet Pingala, around the 2nd-3rd century BCE, is known for describing the Fibonacci sequence in his work Chandaḥśāstra(</a:t>
              </a:r>
              <a:r>
                <a:rPr lang="en-US" sz="1400" u="sng" dirty="0" err="1">
                  <a:solidFill>
                    <a:schemeClr val="accent1">
                      <a:lumMod val="75000"/>
                    </a:schemeClr>
                  </a:solidFill>
                  <a:latin typeface="Yantramanav Black" panose="02000000000000000000" pitchFamily="2" charset="0"/>
                  <a:cs typeface="Yantramanav Black" panose="02000000000000000000" pitchFamily="2" charset="0"/>
                </a:rPr>
                <a:t>चंडशास्त्र</a:t>
              </a:r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  <a:latin typeface="Bahnschrift SemiBold" panose="020B0502040204020203" pitchFamily="34" charset="0"/>
                </a:rPr>
                <a:t>)</a:t>
              </a:r>
            </a:p>
            <a:p>
              <a:pPr algn="ctr"/>
              <a:endParaRPr lang="en-US" sz="14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E7EC3A-B145-93F4-99A2-5ECC36AE803F}"/>
              </a:ext>
            </a:extLst>
          </p:cNvPr>
          <p:cNvGrpSpPr/>
          <p:nvPr/>
        </p:nvGrpSpPr>
        <p:grpSpPr>
          <a:xfrm>
            <a:off x="13010946" y="3245457"/>
            <a:ext cx="1732022" cy="3018188"/>
            <a:chOff x="9782622" y="552449"/>
            <a:chExt cx="1732022" cy="17320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194EE33-8B22-2E24-20B6-74F6AADDEEE1}"/>
                </a:ext>
              </a:extLst>
            </p:cNvPr>
            <p:cNvSpPr/>
            <p:nvPr/>
          </p:nvSpPr>
          <p:spPr>
            <a:xfrm>
              <a:off x="9782622" y="552449"/>
              <a:ext cx="1732022" cy="1732022"/>
            </a:xfrm>
            <a:prstGeom prst="roundRect">
              <a:avLst>
                <a:gd name="adj" fmla="val 3573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B6BC7166-E6D6-6BFD-F1BA-B2E142FBE74F}"/>
                </a:ext>
              </a:extLst>
            </p:cNvPr>
            <p:cNvSpPr/>
            <p:nvPr/>
          </p:nvSpPr>
          <p:spPr>
            <a:xfrm>
              <a:off x="9888693" y="609505"/>
              <a:ext cx="1520744" cy="1617911"/>
            </a:xfrm>
            <a:prstGeom prst="roundRect">
              <a:avLst>
                <a:gd name="adj" fmla="val 35731"/>
              </a:avLst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15407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246BAA-557D-5DE9-CC4A-8F0A7C62E730}"/>
              </a:ext>
            </a:extLst>
          </p:cNvPr>
          <p:cNvSpPr/>
          <p:nvPr/>
        </p:nvSpPr>
        <p:spPr>
          <a:xfrm>
            <a:off x="4506319" y="5305452"/>
            <a:ext cx="3179354" cy="12367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94385A-F455-A904-6714-5A0178156804}"/>
              </a:ext>
            </a:extLst>
          </p:cNvPr>
          <p:cNvSpPr/>
          <p:nvPr/>
        </p:nvSpPr>
        <p:spPr>
          <a:xfrm>
            <a:off x="1407883" y="552449"/>
            <a:ext cx="9376228" cy="12581751"/>
          </a:xfrm>
          <a:prstGeom prst="roundRect">
            <a:avLst>
              <a:gd name="adj" fmla="val 1208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dist="127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98545-4CBC-27C3-C62A-092A8D733E7D}"/>
              </a:ext>
            </a:extLst>
          </p:cNvPr>
          <p:cNvSpPr txBox="1"/>
          <p:nvPr/>
        </p:nvSpPr>
        <p:spPr>
          <a:xfrm>
            <a:off x="-3201855" y="6858000"/>
            <a:ext cx="3201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By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Shreyy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Vinay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Madgaonkar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97A78-36AC-D56B-3041-ED1DE6BA6FE4}"/>
              </a:ext>
            </a:extLst>
          </p:cNvPr>
          <p:cNvSpPr txBox="1"/>
          <p:nvPr/>
        </p:nvSpPr>
        <p:spPr>
          <a:xfrm>
            <a:off x="12192000" y="6858000"/>
            <a:ext cx="2078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Class:X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Roll no:06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29649-75A5-257B-7ACF-EDAAB86C0AFD}"/>
              </a:ext>
            </a:extLst>
          </p:cNvPr>
          <p:cNvSpPr txBox="1"/>
          <p:nvPr/>
        </p:nvSpPr>
        <p:spPr>
          <a:xfrm>
            <a:off x="2409365" y="1504730"/>
            <a:ext cx="7373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cs typeface="Arial" panose="020B0604020202020204" pitchFamily="34" charset="0"/>
              </a:rPr>
              <a:t>What’s Fibonacci Sequence?</a:t>
            </a:r>
            <a:endParaRPr lang="en-IN" sz="4800" b="1" dirty="0">
              <a:solidFill>
                <a:schemeClr val="accent1">
                  <a:lumMod val="75000"/>
                </a:schemeClr>
              </a:solidFill>
              <a:latin typeface="Bahnschrift SemiBold SemiConden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392244-B003-B86A-4AB0-8BB12703C767}"/>
              </a:ext>
            </a:extLst>
          </p:cNvPr>
          <p:cNvSpPr txBox="1"/>
          <p:nvPr/>
        </p:nvSpPr>
        <p:spPr>
          <a:xfrm>
            <a:off x="2231566" y="2688709"/>
            <a:ext cx="772885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Bahnschrift SemiBold Condensed" panose="020B0502040204020203" pitchFamily="34" charset="0"/>
              </a:rPr>
              <a:t>The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ahnschrift SemiBold Condensed" panose="020B0502040204020203" pitchFamily="34" charset="0"/>
              </a:rPr>
              <a:t>Fibonacci sequence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Bahnschrift SemiBold Condensed" panose="020B0502040204020203" pitchFamily="34" charset="0"/>
              </a:rPr>
              <a:t> arises from a classic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ahnschrift SemiBold Condensed" panose="020B0502040204020203" pitchFamily="34" charset="0"/>
              </a:rPr>
              <a:t>rabbit population growth problem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Bahnschrift SemiBold Condensed" panose="020B0502040204020203" pitchFamily="34" charset="0"/>
              </a:rPr>
              <a:t> described by Leonardo of Pisa (Fibonacci), where the number of rabbit pairs in any given month is the sum of the pairs from the two preceding months. 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effectLst/>
              <a:latin typeface="Bahnschrift SemiBold Condensed" panose="020B0502040204020203" pitchFamily="34" charset="0"/>
              <a:cs typeface="Arial" panose="020B0604020202020204" pitchFamily="34" charset="0"/>
            </a:endParaRPr>
          </a:p>
          <a:p>
            <a:pPr algn="ctr"/>
            <a:endParaRPr lang="en-US" sz="2000" b="1" dirty="0">
              <a:solidFill>
                <a:schemeClr val="accent1">
                  <a:lumMod val="75000"/>
                </a:schemeClr>
              </a:solidFill>
              <a:effectLst/>
              <a:latin typeface="Bahnschrift SemiBold Condensed" panose="020B0502040204020203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 Condensed" panose="020B0502040204020203" pitchFamily="34" charset="0"/>
                <a:cs typeface="Arial" panose="020B0604020202020204" pitchFamily="34" charset="0"/>
              </a:rPr>
              <a:t>The Fibonacci sequence is a type series where each number is the sum of the two that precede it. It starts from 0 and 1 usually. The Fibonacci sequence is given by 0, 1, 1, 2, 3, 5, 8, 13, 21, 34, 55, 89, 144, and so on.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Bahnschrift SemiBold Condense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0" descr="Flowers - The Fibonacci Sequence">
            <a:extLst>
              <a:ext uri="{FF2B5EF4-FFF2-40B4-BE49-F238E27FC236}">
                <a16:creationId xmlns:a16="http://schemas.microsoft.com/office/drawing/2014/main" id="{30148DB1-7B30-28F5-AB1D-B08147308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18" b="97321" l="3712" r="94105">
                        <a14:foregroundMark x1="46070" y1="6250" x2="47162" y2="7366"/>
                        <a14:foregroundMark x1="56332" y1="5357" x2="56332" y2="5357"/>
                        <a14:foregroundMark x1="45852" y1="4464" x2="45852" y2="4464"/>
                        <a14:foregroundMark x1="46725" y1="4464" x2="46725" y2="4464"/>
                        <a14:foregroundMark x1="56332" y1="4241" x2="56332" y2="4241"/>
                        <a14:foregroundMark x1="91266" y1="32813" x2="91266" y2="32813"/>
                        <a14:foregroundMark x1="92140" y1="42634" x2="92140" y2="42634"/>
                        <a14:foregroundMark x1="94105" y1="58705" x2="94105" y2="58705"/>
                        <a14:foregroundMark x1="94323" y1="43080" x2="94323" y2="43080"/>
                        <a14:foregroundMark x1="70961" y1="92188" x2="70961" y2="92188"/>
                        <a14:foregroundMark x1="57860" y1="95982" x2="57860" y2="95982"/>
                        <a14:foregroundMark x1="40830" y1="96652" x2="40830" y2="96652"/>
                        <a14:foregroundMark x1="7205" y1="58705" x2="7205" y2="58705"/>
                        <a14:foregroundMark x1="3930" y1="48661" x2="3930" y2="48661"/>
                        <a14:foregroundMark x1="59170" y1="97321" x2="59170" y2="97321"/>
                      </a14:backgroundRemoval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711315" y="6858000"/>
            <a:ext cx="769362" cy="75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ue rectangle with white numbers and a number in the middle&#10;&#10;AI-generated content may be incorrect.">
            <a:extLst>
              <a:ext uri="{FF2B5EF4-FFF2-40B4-BE49-F238E27FC236}">
                <a16:creationId xmlns:a16="http://schemas.microsoft.com/office/drawing/2014/main" id="{3D671D24-F3DF-4DE0-4D40-AC42527A86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645" y="-656240"/>
            <a:ext cx="12001500" cy="685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93DB8B-8B93-B558-D547-37B3A608C306}"/>
              </a:ext>
            </a:extLst>
          </p:cNvPr>
          <p:cNvSpPr/>
          <p:nvPr/>
        </p:nvSpPr>
        <p:spPr>
          <a:xfrm>
            <a:off x="4405861" y="5251324"/>
            <a:ext cx="3380278" cy="123670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32E0E41-D4DD-D301-6407-9A09E423F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148" y="5282777"/>
            <a:ext cx="4315703" cy="9925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Formula: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</a:t>
            </a:r>
            <a:r>
              <a:rPr lang="en-US" altLang="en-US" sz="28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</a:t>
            </a:r>
            <a:r>
              <a:rPr lang="en-US" altLang="en-US" sz="36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=F</a:t>
            </a:r>
            <a:r>
              <a:rPr lang="en-US" altLang="en-US" sz="28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n-1+Fn-2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Bahnschrift SemiBold SemiConden" panose="020B0502040204020203" pitchFamily="34" charset="0"/>
              <a:ea typeface="Yu Gothic UI Semibold" panose="020B0700000000000000" pitchFamily="34" charset="-128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6A9E16-36CA-D32A-DD6C-D7D1D02BD037}"/>
              </a:ext>
            </a:extLst>
          </p:cNvPr>
          <p:cNvGrpSpPr/>
          <p:nvPr/>
        </p:nvGrpSpPr>
        <p:grpSpPr>
          <a:xfrm>
            <a:off x="9782622" y="552449"/>
            <a:ext cx="1732022" cy="1732022"/>
            <a:chOff x="9782622" y="552449"/>
            <a:chExt cx="1732022" cy="17320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D8F0EFD-50EA-CBC5-730C-FC6220E691FA}"/>
                </a:ext>
              </a:extLst>
            </p:cNvPr>
            <p:cNvSpPr/>
            <p:nvPr/>
          </p:nvSpPr>
          <p:spPr>
            <a:xfrm>
              <a:off x="9782622" y="552449"/>
              <a:ext cx="1732022" cy="1732022"/>
            </a:xfrm>
            <a:prstGeom prst="roundRect">
              <a:avLst>
                <a:gd name="adj" fmla="val 3573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EFDFDB6-8365-2568-59D9-57D137B9299D}"/>
                </a:ext>
              </a:extLst>
            </p:cNvPr>
            <p:cNvSpPr/>
            <p:nvPr/>
          </p:nvSpPr>
          <p:spPr>
            <a:xfrm>
              <a:off x="9888693" y="658088"/>
              <a:ext cx="1520744" cy="1520744"/>
            </a:xfrm>
            <a:prstGeom prst="roundRect">
              <a:avLst>
                <a:gd name="adj" fmla="val 35731"/>
              </a:avLst>
            </a:prstGeom>
            <a:blipFill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620C80-8F0D-0169-0DAC-E3061E16E494}"/>
              </a:ext>
            </a:extLst>
          </p:cNvPr>
          <p:cNvGrpSpPr/>
          <p:nvPr/>
        </p:nvGrpSpPr>
        <p:grpSpPr>
          <a:xfrm>
            <a:off x="-496291" y="4744978"/>
            <a:ext cx="4078463" cy="1922522"/>
            <a:chOff x="-496291" y="4744978"/>
            <a:chExt cx="4078463" cy="1922522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743C866-265F-4458-3C21-BBA47E776D65}"/>
                </a:ext>
              </a:extLst>
            </p:cNvPr>
            <p:cNvSpPr/>
            <p:nvPr/>
          </p:nvSpPr>
          <p:spPr>
            <a:xfrm>
              <a:off x="-496291" y="4744978"/>
              <a:ext cx="4078463" cy="1922522"/>
            </a:xfrm>
            <a:prstGeom prst="roundRect">
              <a:avLst>
                <a:gd name="adj" fmla="val 25763"/>
              </a:avLst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E6E8F9-CE0E-9799-BC18-24154E913E9F}"/>
                </a:ext>
              </a:extLst>
            </p:cNvPr>
            <p:cNvSpPr txBox="1"/>
            <p:nvPr/>
          </p:nvSpPr>
          <p:spPr>
            <a:xfrm>
              <a:off x="7008" y="5149216"/>
              <a:ext cx="3413352" cy="14157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0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Bahnschrift SemiBold" panose="020B0502040204020203" pitchFamily="34" charset="0"/>
                </a:rPr>
                <a:t>The Indian mathematician and poet Pingala, around the 2nd-3rd century BCE, is known for describing the Fibonacci sequence in his work Chandaḥśāstra(</a:t>
              </a:r>
              <a:r>
                <a:rPr lang="en-US" sz="1400" u="sng" dirty="0" err="1">
                  <a:solidFill>
                    <a:schemeClr val="accent1">
                      <a:lumMod val="75000"/>
                    </a:schemeClr>
                  </a:solidFill>
                  <a:latin typeface="Yantramanav Black" panose="02000000000000000000" pitchFamily="2" charset="0"/>
                  <a:cs typeface="Yantramanav Black" panose="02000000000000000000" pitchFamily="2" charset="0"/>
                </a:rPr>
                <a:t>चंडशास्त्र</a:t>
              </a:r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  <a:latin typeface="Bahnschrift SemiBold" panose="020B0502040204020203" pitchFamily="34" charset="0"/>
                </a:rPr>
                <a:t>)</a:t>
              </a:r>
            </a:p>
            <a:p>
              <a:pPr algn="ctr"/>
              <a:endParaRPr lang="en-US" sz="14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A2558DF-FA1E-78FD-F4F4-CBBDF55597C9}"/>
              </a:ext>
            </a:extLst>
          </p:cNvPr>
          <p:cNvGrpSpPr/>
          <p:nvPr/>
        </p:nvGrpSpPr>
        <p:grpSpPr>
          <a:xfrm>
            <a:off x="10146299" y="3389051"/>
            <a:ext cx="1732022" cy="3018188"/>
            <a:chOff x="9782622" y="552449"/>
            <a:chExt cx="1732022" cy="17320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752DFE0-647A-DB21-A69D-EEC0080B44D8}"/>
                </a:ext>
              </a:extLst>
            </p:cNvPr>
            <p:cNvSpPr/>
            <p:nvPr/>
          </p:nvSpPr>
          <p:spPr>
            <a:xfrm>
              <a:off x="9782622" y="552449"/>
              <a:ext cx="1732022" cy="1732022"/>
            </a:xfrm>
            <a:prstGeom prst="roundRect">
              <a:avLst>
                <a:gd name="adj" fmla="val 3573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95AEE85-48B7-D4E3-7713-014AF5FCB3F2}"/>
                </a:ext>
              </a:extLst>
            </p:cNvPr>
            <p:cNvSpPr/>
            <p:nvPr/>
          </p:nvSpPr>
          <p:spPr>
            <a:xfrm>
              <a:off x="9888693" y="609505"/>
              <a:ext cx="1520744" cy="1617911"/>
            </a:xfrm>
            <a:prstGeom prst="roundRect">
              <a:avLst>
                <a:gd name="adj" fmla="val 35731"/>
              </a:avLst>
            </a:prstGeom>
            <a:blipFill>
              <a:blip r:embed="rId7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95339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94385A-F455-A904-6714-5A0178156804}"/>
              </a:ext>
            </a:extLst>
          </p:cNvPr>
          <p:cNvSpPr/>
          <p:nvPr/>
        </p:nvSpPr>
        <p:spPr>
          <a:xfrm>
            <a:off x="0" y="-5150437"/>
            <a:ext cx="12192000" cy="13773737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dist="127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98545-4CBC-27C3-C62A-092A8D733E7D}"/>
              </a:ext>
            </a:extLst>
          </p:cNvPr>
          <p:cNvSpPr txBox="1"/>
          <p:nvPr/>
        </p:nvSpPr>
        <p:spPr>
          <a:xfrm>
            <a:off x="-3201855" y="6858000"/>
            <a:ext cx="3201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By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Shreyy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Vinay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Madgaonkar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97A78-36AC-D56B-3041-ED1DE6BA6FE4}"/>
              </a:ext>
            </a:extLst>
          </p:cNvPr>
          <p:cNvSpPr txBox="1"/>
          <p:nvPr/>
        </p:nvSpPr>
        <p:spPr>
          <a:xfrm>
            <a:off x="12192000" y="6858000"/>
            <a:ext cx="2078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Class:X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Roll no:06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29649-75A5-257B-7ACF-EDAAB86C0AFD}"/>
              </a:ext>
            </a:extLst>
          </p:cNvPr>
          <p:cNvSpPr txBox="1"/>
          <p:nvPr/>
        </p:nvSpPr>
        <p:spPr>
          <a:xfrm>
            <a:off x="2409372" y="-4280883"/>
            <a:ext cx="7373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cs typeface="Arial" panose="020B0604020202020204" pitchFamily="34" charset="0"/>
              </a:rPr>
              <a:t>What’s Fibonacci Sequence?</a:t>
            </a:r>
            <a:endParaRPr lang="en-IN" sz="4800" b="1" dirty="0">
              <a:solidFill>
                <a:schemeClr val="accent1">
                  <a:lumMod val="75000"/>
                </a:schemeClr>
              </a:solidFill>
              <a:latin typeface="Bahnschrift SemiBold SemiConden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392244-B003-B86A-4AB0-8BB12703C767}"/>
              </a:ext>
            </a:extLst>
          </p:cNvPr>
          <p:cNvSpPr txBox="1"/>
          <p:nvPr/>
        </p:nvSpPr>
        <p:spPr>
          <a:xfrm>
            <a:off x="2231573" y="-2760939"/>
            <a:ext cx="77288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 SemiConden" panose="020B0502040204020203" pitchFamily="34" charset="0"/>
                <a:cs typeface="Arial" panose="020B0604020202020204" pitchFamily="34" charset="0"/>
              </a:rPr>
              <a:t>The Fibonacci sequence is a type series where each number is the sum of the two that precede it. It starts from 0 and 1 usually. The Fibonacci sequence is given by 0, 1, 1, 2, 3, 5, 8, 13, 21, 34, 55, 89, 144, and so on.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Bahnschrift SemiBold SemiConden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AC3030-19DB-965F-18AB-098D547A537F}"/>
              </a:ext>
            </a:extLst>
          </p:cNvPr>
          <p:cNvSpPr txBox="1"/>
          <p:nvPr/>
        </p:nvSpPr>
        <p:spPr>
          <a:xfrm>
            <a:off x="450851" y="1859339"/>
            <a:ext cx="479334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  <a:t>In this image, each square’s side length matches a Fibonacci number. When arranged together, they form a spiral shape seen in nature, art, and architecture.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  <a:t>The spiral, overlaid on the squares, shows how rapidly the sequence grows and how it connects to the famous “golden ratio.”</a:t>
            </a:r>
          </a:p>
          <a:p>
            <a:pPr algn="l"/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  <a:t>The Fibonacci sequence is more than numbers: it appears in sunflower seeds, pinecones, and even the shape of galaxies. Understanding this pattern reveals the hidden math in our world.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873B7B6-9CB2-249E-3079-B67EC41AFD17}"/>
              </a:ext>
            </a:extLst>
          </p:cNvPr>
          <p:cNvSpPr/>
          <p:nvPr/>
        </p:nvSpPr>
        <p:spPr>
          <a:xfrm>
            <a:off x="1226157" y="5301312"/>
            <a:ext cx="10207399" cy="12367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26C2A5-5468-30E1-7BDA-B67F032A2D06}"/>
              </a:ext>
            </a:extLst>
          </p:cNvPr>
          <p:cNvSpPr/>
          <p:nvPr/>
        </p:nvSpPr>
        <p:spPr>
          <a:xfrm>
            <a:off x="1226157" y="5301313"/>
            <a:ext cx="3380278" cy="123670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AFF0CA5-AE15-7AA9-124D-5630500C9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444" y="5332766"/>
            <a:ext cx="4315703" cy="9925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Formula: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</a:t>
            </a:r>
            <a:r>
              <a:rPr lang="en-US" altLang="en-US" sz="28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</a:t>
            </a:r>
            <a:r>
              <a:rPr lang="en-US" altLang="en-US" sz="36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=F</a:t>
            </a:r>
            <a:r>
              <a:rPr lang="en-US" altLang="en-US" sz="28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n-1+Fn-2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Bahnschrift SemiBold SemiConden" panose="020B0502040204020203" pitchFamily="34" charset="0"/>
              <a:ea typeface="Yu Gothic UI Semibold" panose="020B0700000000000000" pitchFamily="34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21C57E-F58F-B27D-C97C-8EC380B2E4E6}"/>
              </a:ext>
            </a:extLst>
          </p:cNvPr>
          <p:cNvSpPr txBox="1"/>
          <p:nvPr/>
        </p:nvSpPr>
        <p:spPr>
          <a:xfrm>
            <a:off x="4606435" y="5801650"/>
            <a:ext cx="6424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0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  <a:t>0, 1, 1, 2, 3, 5, 8, 13, 21, 34, 55, 89, 144, 233, 377, 610, 987, 1597, 2584, 4181</a:t>
            </a:r>
            <a:endParaRPr lang="en-IN" sz="2000" dirty="0">
              <a:solidFill>
                <a:schemeClr val="accent1">
                  <a:lumMod val="75000"/>
                </a:schemeClr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6" name="Picture 10" descr="Flowers - The Fibonacci Sequence">
            <a:extLst>
              <a:ext uri="{FF2B5EF4-FFF2-40B4-BE49-F238E27FC236}">
                <a16:creationId xmlns:a16="http://schemas.microsoft.com/office/drawing/2014/main" id="{604EAAF8-7234-099D-0A57-28872D6A0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18" b="97321" l="3712" r="94105">
                        <a14:foregroundMark x1="46070" y1="6250" x2="47162" y2="7366"/>
                        <a14:foregroundMark x1="56332" y1="5357" x2="56332" y2="5357"/>
                        <a14:foregroundMark x1="45852" y1="4464" x2="45852" y2="4464"/>
                        <a14:foregroundMark x1="46725" y1="4464" x2="46725" y2="4464"/>
                        <a14:foregroundMark x1="56332" y1="4241" x2="56332" y2="4241"/>
                        <a14:foregroundMark x1="91266" y1="32813" x2="91266" y2="32813"/>
                        <a14:foregroundMark x1="92140" y1="42634" x2="92140" y2="42634"/>
                        <a14:foregroundMark x1="94105" y1="58705" x2="94105" y2="58705"/>
                        <a14:foregroundMark x1="94323" y1="43080" x2="94323" y2="43080"/>
                        <a14:foregroundMark x1="70961" y1="92188" x2="70961" y2="92188"/>
                        <a14:foregroundMark x1="57860" y1="95982" x2="57860" y2="95982"/>
                        <a14:foregroundMark x1="40830" y1="96652" x2="40830" y2="96652"/>
                        <a14:foregroundMark x1="7205" y1="58705" x2="7205" y2="58705"/>
                        <a14:foregroundMark x1="3930" y1="48661" x2="3930" y2="48661"/>
                        <a14:foregroundMark x1="59170" y1="97321" x2="59170" y2="97321"/>
                      </a14:backgroundRemoval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60029"/>
            <a:ext cx="1925277" cy="188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ue rectangle with white numbers and a number in the middle&#10;&#10;AI-generated content may be incorrect.">
            <a:extLst>
              <a:ext uri="{FF2B5EF4-FFF2-40B4-BE49-F238E27FC236}">
                <a16:creationId xmlns:a16="http://schemas.microsoft.com/office/drawing/2014/main" id="{9B828F94-1D29-8C43-302F-4DF1F8DC6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366" y="-219118"/>
            <a:ext cx="12001500" cy="6858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F52ECB8-63F2-26E6-DCEB-304E039A5B06}"/>
              </a:ext>
            </a:extLst>
          </p:cNvPr>
          <p:cNvGrpSpPr/>
          <p:nvPr/>
        </p:nvGrpSpPr>
        <p:grpSpPr>
          <a:xfrm>
            <a:off x="9701534" y="-5153108"/>
            <a:ext cx="1732022" cy="1732022"/>
            <a:chOff x="9782622" y="552449"/>
            <a:chExt cx="1732022" cy="173202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B57C876-E5E1-EA3D-46E0-5E791808E95E}"/>
                </a:ext>
              </a:extLst>
            </p:cNvPr>
            <p:cNvSpPr/>
            <p:nvPr/>
          </p:nvSpPr>
          <p:spPr>
            <a:xfrm>
              <a:off x="9782622" y="552449"/>
              <a:ext cx="1732022" cy="1732022"/>
            </a:xfrm>
            <a:prstGeom prst="roundRect">
              <a:avLst>
                <a:gd name="adj" fmla="val 3573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D7CAC67-6446-6BD8-F12E-ED9E9D7FDC39}"/>
                </a:ext>
              </a:extLst>
            </p:cNvPr>
            <p:cNvSpPr/>
            <p:nvPr/>
          </p:nvSpPr>
          <p:spPr>
            <a:xfrm>
              <a:off x="9888693" y="658088"/>
              <a:ext cx="1520744" cy="1520744"/>
            </a:xfrm>
            <a:prstGeom prst="roundRect">
              <a:avLst>
                <a:gd name="adj" fmla="val 35731"/>
              </a:avLst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A48DF20-711A-8CFE-7F10-4557F85881FA}"/>
              </a:ext>
            </a:extLst>
          </p:cNvPr>
          <p:cNvGrpSpPr/>
          <p:nvPr/>
        </p:nvGrpSpPr>
        <p:grpSpPr>
          <a:xfrm>
            <a:off x="-4574754" y="4700994"/>
            <a:ext cx="4078463" cy="1922522"/>
            <a:chOff x="-496291" y="4744978"/>
            <a:chExt cx="4078463" cy="1922522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00A6239-A056-040F-F9F8-3FDF889BCDDF}"/>
                </a:ext>
              </a:extLst>
            </p:cNvPr>
            <p:cNvSpPr/>
            <p:nvPr/>
          </p:nvSpPr>
          <p:spPr>
            <a:xfrm>
              <a:off x="-496291" y="4744978"/>
              <a:ext cx="4078463" cy="1922522"/>
            </a:xfrm>
            <a:prstGeom prst="roundRect">
              <a:avLst>
                <a:gd name="adj" fmla="val 25763"/>
              </a:avLst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0793B0D-6F06-DCEF-E4CB-58742B4A821D}"/>
                </a:ext>
              </a:extLst>
            </p:cNvPr>
            <p:cNvSpPr txBox="1"/>
            <p:nvPr/>
          </p:nvSpPr>
          <p:spPr>
            <a:xfrm>
              <a:off x="7008" y="5149216"/>
              <a:ext cx="3413352" cy="141577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0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Bahnschrift SemiBold" panose="020B0502040204020203" pitchFamily="34" charset="0"/>
                </a:rPr>
                <a:t>The Indian mathematician and poet Pingala, around the 2nd-3rd century BCE, is known for describing the Fibonacci sequence in his work Chandaḥśāstra(</a:t>
              </a:r>
              <a:r>
                <a:rPr lang="en-US" sz="1400" u="sng" dirty="0" err="1">
                  <a:solidFill>
                    <a:schemeClr val="accent1">
                      <a:lumMod val="75000"/>
                    </a:schemeClr>
                  </a:solidFill>
                  <a:latin typeface="Yantramanav Black" panose="02000000000000000000" pitchFamily="2" charset="0"/>
                  <a:cs typeface="Yantramanav Black" panose="02000000000000000000" pitchFamily="2" charset="0"/>
                </a:rPr>
                <a:t>चंडशास्त्र</a:t>
              </a:r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  <a:latin typeface="Bahnschrift SemiBold" panose="020B0502040204020203" pitchFamily="34" charset="0"/>
                </a:rPr>
                <a:t>)</a:t>
              </a:r>
            </a:p>
            <a:p>
              <a:pPr algn="ctr"/>
              <a:endParaRPr lang="en-US" sz="14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392B621-43F5-55D5-53A0-023D8AD7D62A}"/>
              </a:ext>
            </a:extLst>
          </p:cNvPr>
          <p:cNvGrpSpPr/>
          <p:nvPr/>
        </p:nvGrpSpPr>
        <p:grpSpPr>
          <a:xfrm>
            <a:off x="13010946" y="3245457"/>
            <a:ext cx="1732022" cy="3018188"/>
            <a:chOff x="9782622" y="552449"/>
            <a:chExt cx="1732022" cy="17320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8F85003-1361-9420-469C-15676251BE78}"/>
                </a:ext>
              </a:extLst>
            </p:cNvPr>
            <p:cNvSpPr/>
            <p:nvPr/>
          </p:nvSpPr>
          <p:spPr>
            <a:xfrm>
              <a:off x="9782622" y="552449"/>
              <a:ext cx="1732022" cy="1732022"/>
            </a:xfrm>
            <a:prstGeom prst="roundRect">
              <a:avLst>
                <a:gd name="adj" fmla="val 3573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D0767B5-E316-6EBE-31E8-7DC85FE76DC2}"/>
                </a:ext>
              </a:extLst>
            </p:cNvPr>
            <p:cNvSpPr/>
            <p:nvPr/>
          </p:nvSpPr>
          <p:spPr>
            <a:xfrm>
              <a:off x="9888693" y="609505"/>
              <a:ext cx="1520744" cy="1617911"/>
            </a:xfrm>
            <a:prstGeom prst="roundRect">
              <a:avLst>
                <a:gd name="adj" fmla="val 35731"/>
              </a:avLst>
            </a:prstGeom>
            <a:blipFill>
              <a:blip r:embed="rId7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701202C-39AD-2868-5A86-96D6BB551B5A}"/>
              </a:ext>
            </a:extLst>
          </p:cNvPr>
          <p:cNvGrpSpPr/>
          <p:nvPr/>
        </p:nvGrpSpPr>
        <p:grpSpPr>
          <a:xfrm>
            <a:off x="818184" y="154729"/>
            <a:ext cx="3816363" cy="1651658"/>
            <a:chOff x="-496291" y="4744978"/>
            <a:chExt cx="4078463" cy="1922522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10FFBF8D-5989-2DA4-B26B-37C95B102433}"/>
                </a:ext>
              </a:extLst>
            </p:cNvPr>
            <p:cNvSpPr/>
            <p:nvPr/>
          </p:nvSpPr>
          <p:spPr>
            <a:xfrm>
              <a:off x="-496291" y="4744978"/>
              <a:ext cx="4078463" cy="1922522"/>
            </a:xfrm>
            <a:prstGeom prst="roundRect">
              <a:avLst>
                <a:gd name="adj" fmla="val 40862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7D606EC-AE86-4343-9231-0203B303ABD6}"/>
                </a:ext>
              </a:extLst>
            </p:cNvPr>
            <p:cNvSpPr txBox="1"/>
            <p:nvPr/>
          </p:nvSpPr>
          <p:spPr>
            <a:xfrm>
              <a:off x="-163737" y="5126609"/>
              <a:ext cx="3413352" cy="1289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0" i="0" dirty="0" err="1">
                  <a:solidFill>
                    <a:schemeClr val="accent1">
                      <a:lumMod val="75000"/>
                    </a:schemeClr>
                  </a:solidFill>
                  <a:effectLst/>
                  <a:latin typeface="Bahnschrift SemiBold" panose="020B0502040204020203" pitchFamily="34" charset="0"/>
                </a:rPr>
                <a:t>Virahanka</a:t>
              </a:r>
              <a:r>
                <a:rPr lang="en-US" sz="1100" b="0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Bahnschrift SemiBold" panose="020B0502040204020203" pitchFamily="34" charset="0"/>
                </a:rPr>
                <a:t> (6th-8th Century CE) and </a:t>
              </a:r>
              <a:r>
                <a:rPr lang="en-US" sz="1100" b="0" i="0" dirty="0" err="1">
                  <a:solidFill>
                    <a:schemeClr val="accent1">
                      <a:lumMod val="75000"/>
                    </a:schemeClr>
                  </a:solidFill>
                  <a:effectLst/>
                  <a:latin typeface="Bahnschrift SemiBold" panose="020B0502040204020203" pitchFamily="34" charset="0"/>
                </a:rPr>
                <a:t>Hemachandra</a:t>
              </a:r>
              <a:r>
                <a:rPr lang="en-US" sz="1100" b="0" i="0" dirty="0">
                  <a:solidFill>
                    <a:schemeClr val="accent1">
                      <a:lumMod val="75000"/>
                    </a:schemeClr>
                  </a:solidFill>
                  <a:effectLst/>
                  <a:latin typeface="Bahnschrift SemiBold" panose="020B0502040204020203" pitchFamily="34" charset="0"/>
                </a:rPr>
                <a:t> (12th Century) were ancient Indian scholars who independently described the sequence now known as the Fibonacci sequence, long before Leonardo of Pisa (Fibonacci).</a:t>
              </a:r>
              <a:endParaRPr lang="en-US" sz="11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C2F37E2-217E-93AB-99B2-9A851DE57C35}"/>
              </a:ext>
            </a:extLst>
          </p:cNvPr>
          <p:cNvGrpSpPr/>
          <p:nvPr/>
        </p:nvGrpSpPr>
        <p:grpSpPr>
          <a:xfrm>
            <a:off x="1035918" y="9639572"/>
            <a:ext cx="10120164" cy="3693319"/>
            <a:chOff x="936091" y="995766"/>
            <a:chExt cx="10120164" cy="3693319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F1C5C0A-C803-BD7D-9527-FF37E0B09BF6}"/>
                </a:ext>
              </a:extLst>
            </p:cNvPr>
            <p:cNvGrpSpPr/>
            <p:nvPr/>
          </p:nvGrpSpPr>
          <p:grpSpPr>
            <a:xfrm>
              <a:off x="6262913" y="1093097"/>
              <a:ext cx="4793342" cy="3419232"/>
              <a:chOff x="4085769" y="663470"/>
              <a:chExt cx="4637316" cy="3419232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6702941C-FE1F-BA8F-74E3-0036EC350470}"/>
                  </a:ext>
                </a:extLst>
              </p:cNvPr>
              <p:cNvSpPr/>
              <p:nvPr/>
            </p:nvSpPr>
            <p:spPr>
              <a:xfrm>
                <a:off x="4085769" y="663470"/>
                <a:ext cx="4637316" cy="3419232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8F6A32D4-A6EF-52A9-CB9D-8F15E26B4460}"/>
                  </a:ext>
                </a:extLst>
              </p:cNvPr>
              <p:cNvSpPr/>
              <p:nvPr/>
            </p:nvSpPr>
            <p:spPr>
              <a:xfrm>
                <a:off x="4180113" y="774005"/>
                <a:ext cx="4448629" cy="3198161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C590E55-2306-E3B4-A704-ECD6633EFA73}"/>
                </a:ext>
              </a:extLst>
            </p:cNvPr>
            <p:cNvSpPr txBox="1"/>
            <p:nvPr/>
          </p:nvSpPr>
          <p:spPr>
            <a:xfrm>
              <a:off x="936091" y="995766"/>
              <a:ext cx="4206878" cy="3693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Fibonacci wrote </a:t>
              </a:r>
              <a:r>
                <a:rPr kumimoji="0" lang="en-US" altLang="en-US" sz="1800" b="0" i="1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Liber Abaci</a:t>
              </a: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 to introduce the </a:t>
              </a: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Hindu-Arabic numeral system</a:t>
              </a: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 (0-9) to Europe, proving it was a far more efficient tool for merchants and mathematicians than the cumbersome Roman numeral system.</a:t>
              </a:r>
            </a:p>
            <a:p>
              <a:pPr algn="ctr"/>
              <a:endPara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ahnschrift SemiBold" panose="020B0502040204020203" pitchFamily="34" charset="0"/>
              </a:endParaRPr>
            </a:p>
            <a:p>
              <a:pPr algn="ctr"/>
              <a:endPara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ahnschrift SemiBold" panose="020B0502040204020203" pitchFamily="34" charset="0"/>
              </a:endParaRPr>
            </a:p>
            <a:p>
              <a:pPr algn="ctr"/>
              <a:r>
                <a:rPr lang="en-US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Bahnschrift SemiBold" panose="020B0502040204020203" pitchFamily="34" charset="0"/>
                </a:rPr>
                <a:t>The "rabbit problem" is one of the most famous applications of the Fibonacci sequence, first introduced by Leonardo of Pisa, known as Fibonacci, in his book </a:t>
              </a:r>
              <a:r>
                <a:rPr lang="en-US" i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Bahnschrift SemiBold" panose="020B0502040204020203" pitchFamily="34" charset="0"/>
                </a:rPr>
                <a:t>Liber Abaci</a:t>
              </a:r>
              <a:r>
                <a:rPr lang="en-US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Bahnschrift SemiBold" panose="020B0502040204020203" pitchFamily="34" charset="0"/>
                </a:rPr>
                <a:t> (1202).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1791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94385A-F455-A904-6714-5A0178156804}"/>
              </a:ext>
            </a:extLst>
          </p:cNvPr>
          <p:cNvSpPr/>
          <p:nvPr/>
        </p:nvSpPr>
        <p:spPr>
          <a:xfrm>
            <a:off x="-1" y="-2696611"/>
            <a:ext cx="12192000" cy="12008437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dist="127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98545-4CBC-27C3-C62A-092A8D733E7D}"/>
              </a:ext>
            </a:extLst>
          </p:cNvPr>
          <p:cNvSpPr txBox="1"/>
          <p:nvPr/>
        </p:nvSpPr>
        <p:spPr>
          <a:xfrm>
            <a:off x="-3201855" y="6858000"/>
            <a:ext cx="3201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By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Shreyy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Vinay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Madgaonkar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97A78-36AC-D56B-3041-ED1DE6BA6FE4}"/>
              </a:ext>
            </a:extLst>
          </p:cNvPr>
          <p:cNvSpPr txBox="1"/>
          <p:nvPr/>
        </p:nvSpPr>
        <p:spPr>
          <a:xfrm>
            <a:off x="12192000" y="6858000"/>
            <a:ext cx="2078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Class:X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Roll no:06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97B626-063D-98D9-EF81-6CA1D28418D7}"/>
              </a:ext>
            </a:extLst>
          </p:cNvPr>
          <p:cNvSpPr txBox="1"/>
          <p:nvPr/>
        </p:nvSpPr>
        <p:spPr>
          <a:xfrm>
            <a:off x="-4793342" y="1859339"/>
            <a:ext cx="479334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  <a:t>In this image, each square’s side length matches a Fibonacci number. When arranged together, they form a spiral shape seen in nature, art, and architecture.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  <a:t>The spiral, overlaid on the squares, shows how rapidly the sequence grows and how it connects to the famous “golden ratio.”</a:t>
            </a:r>
          </a:p>
          <a:p>
            <a:pPr algn="l"/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  <a:t>The Fibonacci sequence is more than numbers: it appears in sunflower seeds, pinecones, and even the shape of galaxies. Understanding this pattern reveals the hidden math in our world.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0" name="Picture 10" descr="Flowers - The Fibonacci Sequence">
            <a:extLst>
              <a:ext uri="{FF2B5EF4-FFF2-40B4-BE49-F238E27FC236}">
                <a16:creationId xmlns:a16="http://schemas.microsoft.com/office/drawing/2014/main" id="{B6412AD3-4C8B-7193-68BA-536B5F847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18" b="97321" l="3712" r="94105">
                        <a14:foregroundMark x1="46070" y1="6250" x2="47162" y2="7366"/>
                        <a14:foregroundMark x1="56332" y1="5357" x2="56332" y2="5357"/>
                        <a14:foregroundMark x1="45852" y1="4464" x2="45852" y2="4464"/>
                        <a14:foregroundMark x1="46725" y1="4464" x2="46725" y2="4464"/>
                        <a14:foregroundMark x1="56332" y1="4241" x2="56332" y2="4241"/>
                        <a14:foregroundMark x1="91266" y1="32813" x2="91266" y2="32813"/>
                        <a14:foregroundMark x1="92140" y1="42634" x2="92140" y2="42634"/>
                        <a14:foregroundMark x1="94105" y1="58705" x2="94105" y2="58705"/>
                        <a14:foregroundMark x1="94323" y1="43080" x2="94323" y2="43080"/>
                        <a14:foregroundMark x1="70961" y1="92188" x2="70961" y2="92188"/>
                        <a14:foregroundMark x1="57860" y1="95982" x2="57860" y2="95982"/>
                        <a14:foregroundMark x1="40830" y1="96652" x2="40830" y2="96652"/>
                        <a14:foregroundMark x1="7205" y1="58705" x2="7205" y2="58705"/>
                        <a14:foregroundMark x1="3930" y1="48661" x2="3930" y2="48661"/>
                        <a14:foregroundMark x1="59170" y1="97321" x2="59170" y2="97321"/>
                      </a14:backgroundRemoval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2001141" y="4860029"/>
            <a:ext cx="1925277" cy="188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109B308-732D-70DB-AF55-A7FDB53C033B}"/>
              </a:ext>
            </a:extLst>
          </p:cNvPr>
          <p:cNvSpPr/>
          <p:nvPr/>
        </p:nvSpPr>
        <p:spPr>
          <a:xfrm>
            <a:off x="12192000" y="5320519"/>
            <a:ext cx="3380278" cy="12367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423112E-BED4-D36A-DC90-3C17AB9F3283}"/>
              </a:ext>
            </a:extLst>
          </p:cNvPr>
          <p:cNvSpPr/>
          <p:nvPr/>
        </p:nvSpPr>
        <p:spPr>
          <a:xfrm>
            <a:off x="12192000" y="5301312"/>
            <a:ext cx="3380278" cy="123670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D9DA3A7B-71EB-E7C7-0A69-FC01D895A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4287" y="5444655"/>
            <a:ext cx="4315703" cy="111409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Formula: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8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</a:t>
            </a:r>
            <a:r>
              <a:rPr lang="en-US" altLang="en-US" sz="40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</a:t>
            </a:r>
            <a:r>
              <a:rPr lang="en-US" altLang="en-US" sz="48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=F</a:t>
            </a:r>
            <a:r>
              <a:rPr lang="en-US" altLang="en-US" sz="40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n-1</a:t>
            </a:r>
            <a:endParaRPr kumimoji="0" lang="en-US" altLang="en-US" sz="400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Bahnschrift SemiBold SemiConden" panose="020B0502040204020203" pitchFamily="34" charset="0"/>
              <a:ea typeface="Yu Gothic UI Semibold" panose="020B0700000000000000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Bahnschrift SemiBold SemiConden" panose="020B0502040204020203" pitchFamily="34" charset="0"/>
              <a:ea typeface="Yu Gothic UI Semibold" panose="020B0700000000000000" pitchFamily="34" charset="-12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10C2CDF-44B1-1BC2-0B6D-8F01D8A1C433}"/>
              </a:ext>
            </a:extLst>
          </p:cNvPr>
          <p:cNvSpPr/>
          <p:nvPr/>
        </p:nvSpPr>
        <p:spPr>
          <a:xfrm>
            <a:off x="14132278" y="5158660"/>
            <a:ext cx="2880000" cy="1800000"/>
          </a:xfrm>
          <a:prstGeom prst="roundRect">
            <a:avLst>
              <a:gd name="adj" fmla="val 5555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8x5  cm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74D2D77-EE40-7FFA-61F9-85CBB531EC9D}"/>
              </a:ext>
            </a:extLst>
          </p:cNvPr>
          <p:cNvSpPr/>
          <p:nvPr/>
        </p:nvSpPr>
        <p:spPr>
          <a:xfrm>
            <a:off x="12283838" y="5158660"/>
            <a:ext cx="1800000" cy="1800000"/>
          </a:xfrm>
          <a:prstGeom prst="roundRect">
            <a:avLst>
              <a:gd name="adj" fmla="val 5555"/>
            </a:avLst>
          </a:prstGeom>
          <a:solidFill>
            <a:schemeClr val="accent1">
              <a:lumMod val="60000"/>
              <a:lumOff val="40000"/>
            </a:schemeClr>
          </a:solidFill>
          <a:ln w="1270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5x5 cm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E4D8F9-1E3B-677C-EFF6-1FCB76753C35}"/>
              </a:ext>
            </a:extLst>
          </p:cNvPr>
          <p:cNvSpPr txBox="1"/>
          <p:nvPr/>
        </p:nvSpPr>
        <p:spPr>
          <a:xfrm>
            <a:off x="2942011" y="8740100"/>
            <a:ext cx="63079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Rectangles that are in the golden ratio have side lengths in the special proportion of approximately 1.618 to 1, known as the golden ratio (denoted by the Greek letter </a:t>
            </a:r>
            <a:r>
              <a:rPr lang="en-US" b="0" dirty="0" err="1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φ</a:t>
            </a:r>
            <a:r>
              <a:rPr lang="en-US" b="0" i="1" dirty="0" err="1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φ</a:t>
            </a: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).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F</a:t>
            </a: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eature of golden rectangles is their self-similarity: if you remove a square from one end, the remaining smaller rectangle is also a golden rectangle with the same proportions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03C963-EEAF-57DD-AE11-E21D5FE8E200}"/>
              </a:ext>
            </a:extLst>
          </p:cNvPr>
          <p:cNvSpPr/>
          <p:nvPr/>
        </p:nvSpPr>
        <p:spPr>
          <a:xfrm>
            <a:off x="12649895" y="5387243"/>
            <a:ext cx="3179354" cy="11891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6A5CB3-B8D8-4A43-A638-F8DCC2B379EB}"/>
              </a:ext>
            </a:extLst>
          </p:cNvPr>
          <p:cNvSpPr/>
          <p:nvPr/>
        </p:nvSpPr>
        <p:spPr>
          <a:xfrm>
            <a:off x="12549432" y="5355790"/>
            <a:ext cx="3380278" cy="123670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6B4455A-ED28-BECC-5358-8B4938DAC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1719" y="5387243"/>
            <a:ext cx="4315703" cy="9925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Formula: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</a:t>
            </a:r>
            <a:r>
              <a:rPr lang="en-US" altLang="en-US" sz="28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</a:t>
            </a:r>
            <a:r>
              <a:rPr lang="en-US" altLang="en-US" sz="36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=F</a:t>
            </a:r>
            <a:r>
              <a:rPr lang="en-US" altLang="en-US" sz="28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n-1+Fn-2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Bahnschrift SemiBold SemiConden" panose="020B0502040204020203" pitchFamily="34" charset="0"/>
              <a:ea typeface="Yu Gothic UI Semibold" panose="020B0700000000000000" pitchFamily="34" charset="-128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BCACA8-1976-5C62-A789-F7CB8D85FDE3}"/>
              </a:ext>
            </a:extLst>
          </p:cNvPr>
          <p:cNvGrpSpPr/>
          <p:nvPr/>
        </p:nvGrpSpPr>
        <p:grpSpPr>
          <a:xfrm>
            <a:off x="1038460" y="1474337"/>
            <a:ext cx="10120164" cy="3693319"/>
            <a:chOff x="936091" y="995766"/>
            <a:chExt cx="10120164" cy="369331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0E5F34F-43FC-8BE8-706A-0B26B17676EF}"/>
                </a:ext>
              </a:extLst>
            </p:cNvPr>
            <p:cNvGrpSpPr/>
            <p:nvPr/>
          </p:nvGrpSpPr>
          <p:grpSpPr>
            <a:xfrm>
              <a:off x="6262913" y="1093097"/>
              <a:ext cx="4793342" cy="3419232"/>
              <a:chOff x="4085769" y="663470"/>
              <a:chExt cx="4637316" cy="3419232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FC305613-73F2-B090-35E3-D8E35F31ADB6}"/>
                  </a:ext>
                </a:extLst>
              </p:cNvPr>
              <p:cNvSpPr/>
              <p:nvPr/>
            </p:nvSpPr>
            <p:spPr>
              <a:xfrm>
                <a:off x="4085769" y="663470"/>
                <a:ext cx="4637316" cy="3419232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6F8FE527-6D72-33E5-0DDB-88AD9D98B3E0}"/>
                  </a:ext>
                </a:extLst>
              </p:cNvPr>
              <p:cNvSpPr/>
              <p:nvPr/>
            </p:nvSpPr>
            <p:spPr>
              <a:xfrm>
                <a:off x="4180113" y="774005"/>
                <a:ext cx="4448629" cy="319816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5EB1F10-8629-1DC5-A919-994413E4D0DC}"/>
                </a:ext>
              </a:extLst>
            </p:cNvPr>
            <p:cNvSpPr txBox="1"/>
            <p:nvPr/>
          </p:nvSpPr>
          <p:spPr>
            <a:xfrm>
              <a:off x="936091" y="995766"/>
              <a:ext cx="4206878" cy="3693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Fibonacci wrote </a:t>
              </a:r>
              <a:r>
                <a:rPr kumimoji="0" lang="en-US" altLang="en-US" sz="1800" b="0" i="1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Liber Abaci</a:t>
              </a: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 to introduce the </a:t>
              </a: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Hindu-Arabic numeral system</a:t>
              </a: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 (0-9) to Europe, proving it was a far more efficient tool for merchants and mathematicians than the cumbersome Roman numeral system.</a:t>
              </a:r>
            </a:p>
            <a:p>
              <a:pPr algn="ctr"/>
              <a:endPara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ahnschrift SemiBold" panose="020B0502040204020203" pitchFamily="34" charset="0"/>
              </a:endParaRPr>
            </a:p>
            <a:p>
              <a:pPr algn="ctr"/>
              <a:endPara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ahnschrift SemiBold" panose="020B0502040204020203" pitchFamily="34" charset="0"/>
              </a:endParaRPr>
            </a:p>
            <a:p>
              <a:pPr algn="ctr"/>
              <a:r>
                <a:rPr lang="en-US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Bahnschrift SemiBold" panose="020B0502040204020203" pitchFamily="34" charset="0"/>
                </a:rPr>
                <a:t>The "rabbit problem" is one of the most famous applications of the Fibonacci sequence, first introduced by Leonardo of Pisa, known as Fibonacci, in his book </a:t>
              </a:r>
              <a:r>
                <a:rPr lang="en-US" i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Bahnschrift SemiBold" panose="020B0502040204020203" pitchFamily="34" charset="0"/>
                </a:rPr>
                <a:t>Liber Abaci</a:t>
              </a:r>
              <a:r>
                <a:rPr lang="en-US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Bahnschrift SemiBold" panose="020B0502040204020203" pitchFamily="34" charset="0"/>
                </a:rPr>
                <a:t> (1202).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B4720B-5567-A7D4-E15C-7FEB22B72BDA}"/>
              </a:ext>
            </a:extLst>
          </p:cNvPr>
          <p:cNvSpPr/>
          <p:nvPr/>
        </p:nvSpPr>
        <p:spPr>
          <a:xfrm>
            <a:off x="4107542" y="7719182"/>
            <a:ext cx="3976912" cy="1184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BC5CE42-2657-4D26-87F0-8B435A05F368}"/>
                  </a:ext>
                </a:extLst>
              </p:cNvPr>
              <p:cNvSpPr txBox="1"/>
              <p:nvPr/>
            </p:nvSpPr>
            <p:spPr>
              <a:xfrm>
                <a:off x="4464975" y="7834437"/>
                <a:ext cx="3262047" cy="7934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32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𝛗</m:t>
                    </m:r>
                    <m:r>
                      <a:rPr lang="en-US" sz="32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32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32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200" b="1" i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e>
                        </m:rad>
                      </m:num>
                      <m:den>
                        <m:r>
                          <a:rPr lang="en-US" sz="32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IN" sz="32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Arial Black" panose="020B0A04020102020204" pitchFamily="34" charset="0"/>
                  </a:rPr>
                  <a:t> =1.618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BC5CE42-2657-4D26-87F0-8B435A05F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975" y="7834437"/>
                <a:ext cx="3262047" cy="793422"/>
              </a:xfrm>
              <a:prstGeom prst="rect">
                <a:avLst/>
              </a:prstGeom>
              <a:blipFill>
                <a:blip r:embed="rId5"/>
                <a:stretch>
                  <a:fillRect r="-6716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05ADC1FB-1A36-54FD-AFA2-7A4F851FA6CB}"/>
              </a:ext>
            </a:extLst>
          </p:cNvPr>
          <p:cNvSpPr txBox="1"/>
          <p:nvPr/>
        </p:nvSpPr>
        <p:spPr>
          <a:xfrm>
            <a:off x="2409374" y="11177991"/>
            <a:ext cx="7373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What’s Golden Rectangle?</a:t>
            </a:r>
            <a:endParaRPr lang="en-IN" sz="4800" b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EC25656-F0E9-65A9-270E-192EF50C803D}"/>
                  </a:ext>
                </a:extLst>
              </p:cNvPr>
              <p:cNvSpPr txBox="1"/>
              <p:nvPr/>
            </p:nvSpPr>
            <p:spPr>
              <a:xfrm>
                <a:off x="2231572" y="13126172"/>
                <a:ext cx="7728856" cy="730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0" i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Bahnschrift Condensed" panose="020B0502040204020203" pitchFamily="34" charset="0"/>
                  </a:rPr>
                  <a:t>A golden rectangle is 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Bahnschrift Condensed" panose="020B0502040204020203" pitchFamily="34" charset="0"/>
                  </a:rPr>
                  <a:t>a rectangle whose </a:t>
                </a:r>
                <a:r>
                  <a:rPr lang="en-US" b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Bahnschrift Condensed" panose="020B0502040204020203" pitchFamily="34" charset="0"/>
                  </a:rPr>
                  <a:t>side lengths are in the golden ratio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Bahnschrift Condensed" panose="020B0502040204020203" pitchFamily="34" charset="0"/>
                  </a:rPr>
                  <a:t>, which is approximately 1.618 which is denoted by Geek letter </a:t>
                </a:r>
                <a14:m>
                  <m:oMath xmlns:m="http://schemas.openxmlformats.org/officeDocument/2006/math">
                    <m:r>
                      <a:rPr lang="en-IN" sz="24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𝛗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Bahnschrift Condensed" panose="020B0502040204020203" pitchFamily="34" charset="0"/>
                  </a:rPr>
                  <a:t>(Phi) </a:t>
                </a:r>
                <a:r>
                  <a:rPr lang="en-US" b="0" i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Bahnschrift Condensed" panose="020B0502040204020203" pitchFamily="34" charset="0"/>
                  </a:rPr>
                  <a:t>. This special geometric shape exhibits</a:t>
                </a:r>
                <a:endParaRPr lang="en-IN" dirty="0">
                  <a:solidFill>
                    <a:schemeClr val="accent1">
                      <a:lumMod val="75000"/>
                    </a:schemeClr>
                  </a:solidFill>
                  <a:latin typeface="Bahnschrift Condensed" panose="020B0502040204020203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EC25656-F0E9-65A9-270E-192EF50C8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572" y="13126172"/>
                <a:ext cx="7728856" cy="730136"/>
              </a:xfrm>
              <a:prstGeom prst="rect">
                <a:avLst/>
              </a:prstGeom>
              <a:blipFill>
                <a:blip r:embed="rId6"/>
                <a:stretch>
                  <a:fillRect l="-394" t="-3333" r="-946" b="-1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391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94385A-F455-A904-6714-5A0178156804}"/>
              </a:ext>
            </a:extLst>
          </p:cNvPr>
          <p:cNvSpPr/>
          <p:nvPr/>
        </p:nvSpPr>
        <p:spPr>
          <a:xfrm>
            <a:off x="-1" y="-2696611"/>
            <a:ext cx="12192000" cy="12008437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dist="127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98545-4CBC-27C3-C62A-092A8D733E7D}"/>
              </a:ext>
            </a:extLst>
          </p:cNvPr>
          <p:cNvSpPr txBox="1"/>
          <p:nvPr/>
        </p:nvSpPr>
        <p:spPr>
          <a:xfrm>
            <a:off x="-3201855" y="6858000"/>
            <a:ext cx="3201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By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Shreyy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Vinay </a:t>
            </a:r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Madgaonkar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97A78-36AC-D56B-3041-ED1DE6BA6FE4}"/>
              </a:ext>
            </a:extLst>
          </p:cNvPr>
          <p:cNvSpPr txBox="1"/>
          <p:nvPr/>
        </p:nvSpPr>
        <p:spPr>
          <a:xfrm>
            <a:off x="12192000" y="6858000"/>
            <a:ext cx="2078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</a:rPr>
              <a:t>Class:X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 Roll no:06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97B626-063D-98D9-EF81-6CA1D28418D7}"/>
              </a:ext>
            </a:extLst>
          </p:cNvPr>
          <p:cNvSpPr txBox="1"/>
          <p:nvPr/>
        </p:nvSpPr>
        <p:spPr>
          <a:xfrm>
            <a:off x="-4793342" y="1859339"/>
            <a:ext cx="479334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  <a:t>In this image, each square’s side length matches a Fibonacci number. When arranged together, they form a spiral shape seen in nature, art, and architecture.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  <a:t>The spiral, overlaid on the squares, shows how rapidly the sequence grows and how it connects to the famous “golden ratio.”</a:t>
            </a:r>
          </a:p>
          <a:p>
            <a:pPr algn="l"/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  <a:latin typeface="Bahnschrift Condensed" panose="020B0502040204020203" pitchFamily="34" charset="0"/>
              </a:rPr>
              <a:t>The Fibonacci sequence is more than numbers: it appears in sunflower seeds, pinecones, and even the shape of galaxies. Understanding this pattern reveals the hidden math in our world.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0" name="Picture 10" descr="Flowers - The Fibonacci Sequence">
            <a:extLst>
              <a:ext uri="{FF2B5EF4-FFF2-40B4-BE49-F238E27FC236}">
                <a16:creationId xmlns:a16="http://schemas.microsoft.com/office/drawing/2014/main" id="{B6412AD3-4C8B-7193-68BA-536B5F847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18" b="97321" l="3712" r="94105">
                        <a14:foregroundMark x1="46070" y1="6250" x2="47162" y2="7366"/>
                        <a14:foregroundMark x1="56332" y1="5357" x2="56332" y2="5357"/>
                        <a14:foregroundMark x1="45852" y1="4464" x2="45852" y2="4464"/>
                        <a14:foregroundMark x1="46725" y1="4464" x2="46725" y2="4464"/>
                        <a14:foregroundMark x1="56332" y1="4241" x2="56332" y2="4241"/>
                        <a14:foregroundMark x1="91266" y1="32813" x2="91266" y2="32813"/>
                        <a14:foregroundMark x1="92140" y1="42634" x2="92140" y2="42634"/>
                        <a14:foregroundMark x1="94105" y1="58705" x2="94105" y2="58705"/>
                        <a14:foregroundMark x1="94323" y1="43080" x2="94323" y2="43080"/>
                        <a14:foregroundMark x1="70961" y1="92188" x2="70961" y2="92188"/>
                        <a14:foregroundMark x1="57860" y1="95982" x2="57860" y2="95982"/>
                        <a14:foregroundMark x1="40830" y1="96652" x2="40830" y2="96652"/>
                        <a14:foregroundMark x1="7205" y1="58705" x2="7205" y2="58705"/>
                        <a14:foregroundMark x1="3930" y1="48661" x2="3930" y2="48661"/>
                        <a14:foregroundMark x1="59170" y1="97321" x2="59170" y2="97321"/>
                      </a14:backgroundRemoval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2001141" y="4860029"/>
            <a:ext cx="1925277" cy="188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109B308-732D-70DB-AF55-A7FDB53C033B}"/>
              </a:ext>
            </a:extLst>
          </p:cNvPr>
          <p:cNvSpPr/>
          <p:nvPr/>
        </p:nvSpPr>
        <p:spPr>
          <a:xfrm>
            <a:off x="12192000" y="5320519"/>
            <a:ext cx="3380278" cy="12367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423112E-BED4-D36A-DC90-3C17AB9F3283}"/>
              </a:ext>
            </a:extLst>
          </p:cNvPr>
          <p:cNvSpPr/>
          <p:nvPr/>
        </p:nvSpPr>
        <p:spPr>
          <a:xfrm>
            <a:off x="12192000" y="5301312"/>
            <a:ext cx="3380278" cy="123670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D9DA3A7B-71EB-E7C7-0A69-FC01D895A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4287" y="5444655"/>
            <a:ext cx="4315703" cy="111409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Formula: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8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</a:t>
            </a:r>
            <a:r>
              <a:rPr lang="en-US" altLang="en-US" sz="40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</a:t>
            </a:r>
            <a:r>
              <a:rPr lang="en-US" altLang="en-US" sz="48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=F</a:t>
            </a:r>
            <a:r>
              <a:rPr lang="en-US" altLang="en-US" sz="40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n-1</a:t>
            </a:r>
            <a:endParaRPr kumimoji="0" lang="en-US" altLang="en-US" sz="400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Bahnschrift SemiBold SemiConden" panose="020B0502040204020203" pitchFamily="34" charset="0"/>
              <a:ea typeface="Yu Gothic UI Semibold" panose="020B0700000000000000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Bahnschrift SemiBold SemiConden" panose="020B0502040204020203" pitchFamily="34" charset="0"/>
              <a:ea typeface="Yu Gothic UI Semibold" panose="020B0700000000000000" pitchFamily="34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DD2EC3-82E4-17A1-8CB8-57AC6B22A46E}"/>
              </a:ext>
            </a:extLst>
          </p:cNvPr>
          <p:cNvSpPr txBox="1"/>
          <p:nvPr/>
        </p:nvSpPr>
        <p:spPr>
          <a:xfrm>
            <a:off x="2409372" y="994358"/>
            <a:ext cx="7373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What’s Golden Rectangle?</a:t>
            </a:r>
            <a:endParaRPr lang="en-IN" sz="4800" b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A575509-E46D-3B42-FC98-90B44ADA53E7}"/>
                  </a:ext>
                </a:extLst>
              </p:cNvPr>
              <p:cNvSpPr txBox="1"/>
              <p:nvPr/>
            </p:nvSpPr>
            <p:spPr>
              <a:xfrm>
                <a:off x="2231570" y="2942539"/>
                <a:ext cx="7728856" cy="730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0" i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Bahnschrift Condensed" panose="020B0502040204020203" pitchFamily="34" charset="0"/>
                  </a:rPr>
                  <a:t>A golden rectangle is 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Bahnschrift Condensed" panose="020B0502040204020203" pitchFamily="34" charset="0"/>
                  </a:rPr>
                  <a:t>a rectangle whose </a:t>
                </a:r>
                <a:r>
                  <a:rPr lang="en-US" b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Bahnschrift Condensed" panose="020B0502040204020203" pitchFamily="34" charset="0"/>
                  </a:rPr>
                  <a:t>side lengths are in the golden ratio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Bahnschrift Condensed" panose="020B0502040204020203" pitchFamily="34" charset="0"/>
                  </a:rPr>
                  <a:t>, which is approximately 1.618 which is denoted by Geek letter </a:t>
                </a:r>
                <a14:m>
                  <m:oMath xmlns:m="http://schemas.openxmlformats.org/officeDocument/2006/math">
                    <m:r>
                      <a:rPr lang="en-IN" sz="24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𝛗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Bahnschrift Condensed" panose="020B0502040204020203" pitchFamily="34" charset="0"/>
                  </a:rPr>
                  <a:t>(Phi) </a:t>
                </a:r>
                <a:r>
                  <a:rPr lang="en-US" b="0" i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Bahnschrift Condensed" panose="020B0502040204020203" pitchFamily="34" charset="0"/>
                  </a:rPr>
                  <a:t>. This special geometric shape exhibits</a:t>
                </a:r>
                <a:endParaRPr lang="en-IN" dirty="0">
                  <a:solidFill>
                    <a:schemeClr val="accent1">
                      <a:lumMod val="75000"/>
                    </a:schemeClr>
                  </a:solidFill>
                  <a:latin typeface="Bahnschrift Condensed" panose="020B0502040204020203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A575509-E46D-3B42-FC98-90B44ADA5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570" y="2942539"/>
                <a:ext cx="7728856" cy="730136"/>
              </a:xfrm>
              <a:prstGeom prst="rect">
                <a:avLst/>
              </a:prstGeom>
              <a:blipFill>
                <a:blip r:embed="rId4"/>
                <a:stretch>
                  <a:fillRect l="-394" t="-5882" r="-1104" b="-10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87C1926-1194-09F7-AFCC-4B8543CA962E}"/>
              </a:ext>
            </a:extLst>
          </p:cNvPr>
          <p:cNvSpPr/>
          <p:nvPr/>
        </p:nvSpPr>
        <p:spPr>
          <a:xfrm>
            <a:off x="4107542" y="4789859"/>
            <a:ext cx="3976912" cy="1184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07A68F-C5DF-2B32-24EE-98E30D600E12}"/>
                  </a:ext>
                </a:extLst>
              </p:cNvPr>
              <p:cNvSpPr txBox="1"/>
              <p:nvPr/>
            </p:nvSpPr>
            <p:spPr>
              <a:xfrm>
                <a:off x="4464975" y="4905114"/>
                <a:ext cx="3262047" cy="7934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32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𝛗</m:t>
                    </m:r>
                    <m:r>
                      <a:rPr lang="en-US" sz="32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32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32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200" b="1" i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e>
                        </m:rad>
                      </m:num>
                      <m:den>
                        <m:r>
                          <a:rPr lang="en-US" sz="32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IN" sz="32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Arial Black" panose="020B0A04020102020204" pitchFamily="34" charset="0"/>
                  </a:rPr>
                  <a:t> =1.618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07A68F-C5DF-2B32-24EE-98E30D600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975" y="4905114"/>
                <a:ext cx="3262047" cy="793422"/>
              </a:xfrm>
              <a:prstGeom prst="rect">
                <a:avLst/>
              </a:prstGeom>
              <a:blipFill>
                <a:blip r:embed="rId5"/>
                <a:stretch>
                  <a:fillRect r="-6903" b="-1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10C2CDF-44B1-1BC2-0B6D-8F01D8A1C433}"/>
              </a:ext>
            </a:extLst>
          </p:cNvPr>
          <p:cNvSpPr/>
          <p:nvPr/>
        </p:nvSpPr>
        <p:spPr>
          <a:xfrm>
            <a:off x="14132278" y="5158660"/>
            <a:ext cx="2880000" cy="1800000"/>
          </a:xfrm>
          <a:prstGeom prst="roundRect">
            <a:avLst>
              <a:gd name="adj" fmla="val 5555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8x5  cm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74D2D77-EE40-7FFA-61F9-85CBB531EC9D}"/>
              </a:ext>
            </a:extLst>
          </p:cNvPr>
          <p:cNvSpPr/>
          <p:nvPr/>
        </p:nvSpPr>
        <p:spPr>
          <a:xfrm>
            <a:off x="12283838" y="5158660"/>
            <a:ext cx="1800000" cy="1800000"/>
          </a:xfrm>
          <a:prstGeom prst="roundRect">
            <a:avLst>
              <a:gd name="adj" fmla="val 5555"/>
            </a:avLst>
          </a:prstGeom>
          <a:solidFill>
            <a:schemeClr val="accent1">
              <a:lumMod val="60000"/>
              <a:lumOff val="40000"/>
            </a:schemeClr>
          </a:solidFill>
          <a:ln w="1270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5x5 cm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E4D8F9-1E3B-677C-EFF6-1FCB76753C35}"/>
              </a:ext>
            </a:extLst>
          </p:cNvPr>
          <p:cNvSpPr txBox="1"/>
          <p:nvPr/>
        </p:nvSpPr>
        <p:spPr>
          <a:xfrm>
            <a:off x="2942011" y="8740100"/>
            <a:ext cx="63079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Rectangles that are in the golden ratio have side lengths in the special proportion of approximately 1.618 to 1, known as the golden ratio (denoted by the Greek letter </a:t>
            </a:r>
            <a:r>
              <a:rPr lang="en-US" b="0" dirty="0" err="1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φ</a:t>
            </a:r>
            <a:r>
              <a:rPr lang="en-US" b="0" i="1" dirty="0" err="1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φ</a:t>
            </a: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).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F</a:t>
            </a: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eature of golden rectangles is their self-similarity: if you remove a square from one end, the remaining smaller rectangle is also a golden rectangle with the same proportions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03C963-EEAF-57DD-AE11-E21D5FE8E200}"/>
              </a:ext>
            </a:extLst>
          </p:cNvPr>
          <p:cNvSpPr/>
          <p:nvPr/>
        </p:nvSpPr>
        <p:spPr>
          <a:xfrm>
            <a:off x="12649895" y="5387243"/>
            <a:ext cx="3179354" cy="11891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6A5CB3-B8D8-4A43-A638-F8DCC2B379EB}"/>
              </a:ext>
            </a:extLst>
          </p:cNvPr>
          <p:cNvSpPr/>
          <p:nvPr/>
        </p:nvSpPr>
        <p:spPr>
          <a:xfrm>
            <a:off x="12549432" y="5355790"/>
            <a:ext cx="3380278" cy="123670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6B4455A-ED28-BECC-5358-8B4938DAC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1719" y="5387243"/>
            <a:ext cx="4315703" cy="9925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Formula: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</a:t>
            </a:r>
            <a:r>
              <a:rPr lang="en-US" altLang="en-US" sz="28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</a:t>
            </a:r>
            <a:r>
              <a:rPr lang="en-US" altLang="en-US" sz="36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=F</a:t>
            </a:r>
            <a:r>
              <a:rPr lang="en-US" altLang="en-US" sz="28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n-1+Fn-2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Bahnschrift SemiBold SemiConden" panose="020B0502040204020203" pitchFamily="34" charset="0"/>
              <a:ea typeface="Yu Gothic UI Semibold" panose="020B0700000000000000" pitchFamily="34" charset="-128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262AD05-405A-4146-3ABE-CDEA31003ACD}"/>
              </a:ext>
            </a:extLst>
          </p:cNvPr>
          <p:cNvGrpSpPr/>
          <p:nvPr/>
        </p:nvGrpSpPr>
        <p:grpSpPr>
          <a:xfrm>
            <a:off x="1035916" y="-7700018"/>
            <a:ext cx="10120164" cy="3693319"/>
            <a:chOff x="936091" y="995766"/>
            <a:chExt cx="10120164" cy="369331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E5909EB-34AE-40ED-CEC1-4B3DFEE74C02}"/>
                </a:ext>
              </a:extLst>
            </p:cNvPr>
            <p:cNvGrpSpPr/>
            <p:nvPr/>
          </p:nvGrpSpPr>
          <p:grpSpPr>
            <a:xfrm>
              <a:off x="6262913" y="1093097"/>
              <a:ext cx="4793342" cy="3419232"/>
              <a:chOff x="4085769" y="663470"/>
              <a:chExt cx="4637316" cy="3419232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3A1CCF73-58F8-6032-AD51-704F0F37CD56}"/>
                  </a:ext>
                </a:extLst>
              </p:cNvPr>
              <p:cNvSpPr/>
              <p:nvPr/>
            </p:nvSpPr>
            <p:spPr>
              <a:xfrm>
                <a:off x="4085769" y="663470"/>
                <a:ext cx="4637316" cy="3419232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42651FBD-BAEF-421A-08B1-EE5FBA65048F}"/>
                  </a:ext>
                </a:extLst>
              </p:cNvPr>
              <p:cNvSpPr/>
              <p:nvPr/>
            </p:nvSpPr>
            <p:spPr>
              <a:xfrm>
                <a:off x="4180113" y="774005"/>
                <a:ext cx="4448629" cy="31981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48B6D7-1E59-9EF9-3ABB-9784ADE19BAB}"/>
                </a:ext>
              </a:extLst>
            </p:cNvPr>
            <p:cNvSpPr txBox="1"/>
            <p:nvPr/>
          </p:nvSpPr>
          <p:spPr>
            <a:xfrm>
              <a:off x="936091" y="995766"/>
              <a:ext cx="4206878" cy="3693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Fibonacci wrote </a:t>
              </a:r>
              <a:r>
                <a:rPr kumimoji="0" lang="en-US" altLang="en-US" sz="1800" b="0" i="1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Liber Abaci</a:t>
              </a: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 to introduce the </a:t>
              </a: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Hindu-Arabic numeral system</a:t>
              </a: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latin typeface="Bahnschrift SemiBold" panose="020B0502040204020203" pitchFamily="34" charset="0"/>
                </a:rPr>
                <a:t> (0-9) to Europe, proving it was a far more efficient tool for merchants and mathematicians than the cumbersome Roman numeral system.</a:t>
              </a:r>
            </a:p>
            <a:p>
              <a:pPr algn="ctr"/>
              <a:endPara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ahnschrift SemiBold" panose="020B0502040204020203" pitchFamily="34" charset="0"/>
              </a:endParaRPr>
            </a:p>
            <a:p>
              <a:pPr algn="ctr"/>
              <a:endPara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ahnschrift SemiBold" panose="020B0502040204020203" pitchFamily="34" charset="0"/>
              </a:endParaRPr>
            </a:p>
            <a:p>
              <a:pPr algn="ctr"/>
              <a:r>
                <a:rPr lang="en-US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Bahnschrift SemiBold" panose="020B0502040204020203" pitchFamily="34" charset="0"/>
                </a:rPr>
                <a:t>The "rabbit problem" is one of the most famous applications of the Fibonacci sequence, first introduced by Leonardo of Pisa, known as Fibonacci, in his book </a:t>
              </a:r>
              <a:r>
                <a:rPr lang="en-US" i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Bahnschrift SemiBold" panose="020B0502040204020203" pitchFamily="34" charset="0"/>
                </a:rPr>
                <a:t>Liber Abaci</a:t>
              </a:r>
              <a:r>
                <a:rPr lang="en-US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Bahnschrift SemiBold" panose="020B0502040204020203" pitchFamily="34" charset="0"/>
                </a:rPr>
                <a:t> (1202).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4572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94385A-F455-A904-6714-5A0178156804}"/>
              </a:ext>
            </a:extLst>
          </p:cNvPr>
          <p:cNvSpPr/>
          <p:nvPr/>
        </p:nvSpPr>
        <p:spPr>
          <a:xfrm>
            <a:off x="-400051" y="-10509667"/>
            <a:ext cx="12992098" cy="156020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dist="127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87C1926-1194-09F7-AFCC-4B8543CA962E}"/>
              </a:ext>
            </a:extLst>
          </p:cNvPr>
          <p:cNvSpPr/>
          <p:nvPr/>
        </p:nvSpPr>
        <p:spPr>
          <a:xfrm>
            <a:off x="147551" y="5889439"/>
            <a:ext cx="3143252" cy="86498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07A68F-C5DF-2B32-24EE-98E30D600E12}"/>
                  </a:ext>
                </a:extLst>
              </p:cNvPr>
              <p:cNvSpPr txBox="1"/>
              <p:nvPr/>
            </p:nvSpPr>
            <p:spPr>
              <a:xfrm>
                <a:off x="496341" y="6024413"/>
                <a:ext cx="2445670" cy="595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𝛗</m:t>
                    </m:r>
                    <m:r>
                      <a:rPr lang="en-US" sz="24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24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1" i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e>
                        </m:rad>
                      </m:num>
                      <m:den>
                        <m:r>
                          <a:rPr lang="en-US" sz="24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IN" sz="24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Arial Black" panose="020B0A04020102020204" pitchFamily="34" charset="0"/>
                  </a:rPr>
                  <a:t> =1.618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07A68F-C5DF-2B32-24EE-98E30D600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41" y="6024413"/>
                <a:ext cx="2445670" cy="595035"/>
              </a:xfrm>
              <a:prstGeom prst="rect">
                <a:avLst/>
              </a:prstGeom>
              <a:blipFill>
                <a:blip r:embed="rId2"/>
                <a:stretch>
                  <a:fillRect r="-6468" b="-18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D8D40E9-7D35-B0C2-3018-45ADA9E4E18A}"/>
              </a:ext>
            </a:extLst>
          </p:cNvPr>
          <p:cNvSpPr txBox="1"/>
          <p:nvPr/>
        </p:nvSpPr>
        <p:spPr>
          <a:xfrm>
            <a:off x="2942011" y="1987307"/>
            <a:ext cx="63079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Rectangles that are in the golden ratio have side lengths in the special proportion of approximately 1.618 to 1, known as the golden ratio (denoted by the Greek letter </a:t>
            </a:r>
            <a:r>
              <a:rPr lang="en-US" b="0" dirty="0" err="1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φ</a:t>
            </a:r>
            <a:r>
              <a:rPr lang="en-US" b="0" i="1" dirty="0" err="1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φ</a:t>
            </a: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).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F</a:t>
            </a: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eature of golden rectangles is their self-similarity: if you remove a square from one end, the remaining smaller rectangle is also a golden rectangle with the same proportions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F06D44-911A-D802-598D-8C045B024CEC}"/>
              </a:ext>
            </a:extLst>
          </p:cNvPr>
          <p:cNvSpPr/>
          <p:nvPr/>
        </p:nvSpPr>
        <p:spPr>
          <a:xfrm>
            <a:off x="7278829" y="4989439"/>
            <a:ext cx="2880000" cy="1800000"/>
          </a:xfrm>
          <a:prstGeom prst="roundRect">
            <a:avLst>
              <a:gd name="adj" fmla="val 5555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8x5  cm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36917AA-33C3-92E1-0939-A0D228D468FC}"/>
              </a:ext>
            </a:extLst>
          </p:cNvPr>
          <p:cNvSpPr/>
          <p:nvPr/>
        </p:nvSpPr>
        <p:spPr>
          <a:xfrm>
            <a:off x="10307451" y="4989439"/>
            <a:ext cx="1800000" cy="1800000"/>
          </a:xfrm>
          <a:prstGeom prst="roundRect">
            <a:avLst>
              <a:gd name="adj" fmla="val 5555"/>
            </a:avLst>
          </a:prstGeom>
          <a:solidFill>
            <a:schemeClr val="accent1">
              <a:lumMod val="60000"/>
              <a:lumOff val="40000"/>
            </a:schemeClr>
          </a:solidFill>
          <a:ln w="1270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5x5 cm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3C572F-9E98-DC5E-420E-310BF75A0C07}"/>
              </a:ext>
            </a:extLst>
          </p:cNvPr>
          <p:cNvSpPr txBox="1"/>
          <p:nvPr/>
        </p:nvSpPr>
        <p:spPr>
          <a:xfrm>
            <a:off x="2409369" y="-3388956"/>
            <a:ext cx="7373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What’s Golden Rectangle?</a:t>
            </a:r>
            <a:endParaRPr lang="en-IN" sz="4800" b="1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0BEC36-B63A-1CD9-FFE4-C13F22FCC9F6}"/>
                  </a:ext>
                </a:extLst>
              </p:cNvPr>
              <p:cNvSpPr txBox="1"/>
              <p:nvPr/>
            </p:nvSpPr>
            <p:spPr>
              <a:xfrm>
                <a:off x="2231570" y="-1440775"/>
                <a:ext cx="7728856" cy="730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0" i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Bahnschrift Condensed" panose="020B0502040204020203" pitchFamily="34" charset="0"/>
                  </a:rPr>
                  <a:t>A golden rectangle is 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Bahnschrift Condensed" panose="020B0502040204020203" pitchFamily="34" charset="0"/>
                  </a:rPr>
                  <a:t>a rectangle whose </a:t>
                </a:r>
                <a:r>
                  <a:rPr lang="en-US" b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Bahnschrift Condensed" panose="020B0502040204020203" pitchFamily="34" charset="0"/>
                  </a:rPr>
                  <a:t>side lengths are in the golden ratio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Bahnschrift Condensed" panose="020B0502040204020203" pitchFamily="34" charset="0"/>
                  </a:rPr>
                  <a:t>, which is approximately 1.618 which is denoted by Geek letter </a:t>
                </a:r>
                <a14:m>
                  <m:oMath xmlns:m="http://schemas.openxmlformats.org/officeDocument/2006/math">
                    <m:r>
                      <a:rPr lang="en-IN" sz="24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𝛗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Bahnschrift Condensed" panose="020B0502040204020203" pitchFamily="34" charset="0"/>
                  </a:rPr>
                  <a:t>(Phi) </a:t>
                </a:r>
                <a:r>
                  <a:rPr lang="en-US" b="0" i="0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Bahnschrift Condensed" panose="020B0502040204020203" pitchFamily="34" charset="0"/>
                  </a:rPr>
                  <a:t>. This special geometric shape exhibits</a:t>
                </a:r>
                <a:endParaRPr lang="en-IN" dirty="0">
                  <a:solidFill>
                    <a:schemeClr val="accent1">
                      <a:lumMod val="75000"/>
                    </a:schemeClr>
                  </a:solidFill>
                  <a:latin typeface="Bahnschrift Condensed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0BEC36-B63A-1CD9-FFE4-C13F22FCC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570" y="-1440775"/>
                <a:ext cx="7728856" cy="730136"/>
              </a:xfrm>
              <a:prstGeom prst="rect">
                <a:avLst/>
              </a:prstGeom>
              <a:blipFill>
                <a:blip r:embed="rId3"/>
                <a:stretch>
                  <a:fillRect l="-394" t="-5882" r="-1104" b="-10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346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94385A-F455-A904-6714-5A0178156804}"/>
              </a:ext>
            </a:extLst>
          </p:cNvPr>
          <p:cNvSpPr/>
          <p:nvPr/>
        </p:nvSpPr>
        <p:spPr>
          <a:xfrm>
            <a:off x="-400051" y="-10509667"/>
            <a:ext cx="12992098" cy="156020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dist="127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87C1926-1194-09F7-AFCC-4B8543CA962E}"/>
              </a:ext>
            </a:extLst>
          </p:cNvPr>
          <p:cNvSpPr/>
          <p:nvPr/>
        </p:nvSpPr>
        <p:spPr>
          <a:xfrm>
            <a:off x="147551" y="5889439"/>
            <a:ext cx="3143252" cy="86498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07A68F-C5DF-2B32-24EE-98E30D600E12}"/>
                  </a:ext>
                </a:extLst>
              </p:cNvPr>
              <p:cNvSpPr txBox="1"/>
              <p:nvPr/>
            </p:nvSpPr>
            <p:spPr>
              <a:xfrm>
                <a:off x="496341" y="6024413"/>
                <a:ext cx="2445670" cy="595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𝛗</m:t>
                    </m:r>
                    <m:r>
                      <a:rPr lang="en-US" sz="24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24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1" i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e>
                        </m:rad>
                      </m:num>
                      <m:den>
                        <m:r>
                          <a:rPr lang="en-US" sz="24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IN" sz="24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Arial Black" panose="020B0A04020102020204" pitchFamily="34" charset="0"/>
                  </a:rPr>
                  <a:t> =1.618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07A68F-C5DF-2B32-24EE-98E30D600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41" y="6024413"/>
                <a:ext cx="2445670" cy="595035"/>
              </a:xfrm>
              <a:prstGeom prst="rect">
                <a:avLst/>
              </a:prstGeom>
              <a:blipFill>
                <a:blip r:embed="rId2"/>
                <a:stretch>
                  <a:fillRect r="-6468" b="-18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D8D40E9-7D35-B0C2-3018-45ADA9E4E18A}"/>
              </a:ext>
            </a:extLst>
          </p:cNvPr>
          <p:cNvSpPr txBox="1"/>
          <p:nvPr/>
        </p:nvSpPr>
        <p:spPr>
          <a:xfrm>
            <a:off x="2942011" y="1987307"/>
            <a:ext cx="63079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Rectangles that are in the golden ratio have side lengths in the special proportion of approximately 1.618 to 1, known as the golden ratio (denoted by the Greek letter </a:t>
            </a:r>
            <a:r>
              <a:rPr lang="en-US" b="0" dirty="0" err="1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φ</a:t>
            </a:r>
            <a:r>
              <a:rPr lang="en-US" b="0" i="1" dirty="0" err="1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φ</a:t>
            </a: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).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F</a:t>
            </a: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eature of golden rectangles is their self-similarity: if you remove a square from one end, the remaining smaller rectangle is also a golden rectangle with the same proportions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F06D44-911A-D802-598D-8C045B024CEC}"/>
              </a:ext>
            </a:extLst>
          </p:cNvPr>
          <p:cNvSpPr/>
          <p:nvPr/>
        </p:nvSpPr>
        <p:spPr>
          <a:xfrm>
            <a:off x="9227451" y="4989439"/>
            <a:ext cx="2880000" cy="1800000"/>
          </a:xfrm>
          <a:prstGeom prst="roundRect">
            <a:avLst>
              <a:gd name="adj" fmla="val 5555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8x5  cm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CE8128-20D5-C541-D282-80557442F84C}"/>
              </a:ext>
            </a:extLst>
          </p:cNvPr>
          <p:cNvSpPr txBox="1"/>
          <p:nvPr/>
        </p:nvSpPr>
        <p:spPr>
          <a:xfrm>
            <a:off x="9227451" y="5717871"/>
            <a:ext cx="108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  <a:t>3x5 cm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14C645-5800-9C10-AC32-C72611FAB7AA}"/>
              </a:ext>
            </a:extLst>
          </p:cNvPr>
          <p:cNvSpPr txBox="1"/>
          <p:nvPr/>
        </p:nvSpPr>
        <p:spPr>
          <a:xfrm>
            <a:off x="1333498" y="7676464"/>
            <a:ext cx="9525000" cy="46220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b="0" i="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</a:rPr>
              <a:t>55 / 34 ≈ 1.6177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Rockwell" panose="02060603020205020403" pitchFamily="18" charset="0"/>
              </a:rPr>
              <a:t>   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Rockwell" panose="02060603020205020403" pitchFamily="18" charset="0"/>
              </a:rPr>
              <a:t>13/8 = 1.625  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ckwell" panose="02060603020205020403" pitchFamily="18" charset="0"/>
              </a:rPr>
              <a:t>8/5   = 1.6   </a:t>
            </a:r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  <a:latin typeface="Rockwell" panose="02060603020205020403" pitchFamily="18" charset="0"/>
              </a:rPr>
              <a:t>5/3   = 1.6666   </a:t>
            </a:r>
            <a:r>
              <a:rPr lang="en-IN" b="1" dirty="0">
                <a:solidFill>
                  <a:schemeClr val="tx2">
                    <a:lumMod val="25000"/>
                    <a:lumOff val="75000"/>
                  </a:schemeClr>
                </a:solidFill>
                <a:latin typeface="Rockwell" panose="02060603020205020403" pitchFamily="18" charset="0"/>
              </a:rPr>
              <a:t>3/2   = 1.5   </a:t>
            </a:r>
            <a:r>
              <a:rPr lang="en-IN" b="1" dirty="0">
                <a:solidFill>
                  <a:srgbClr val="002060"/>
                </a:solidFill>
                <a:latin typeface="Rockwell" panose="02060603020205020403" pitchFamily="18" charset="0"/>
              </a:rPr>
              <a:t>2/1   = 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22CF0D-F458-5001-BEF8-DFE58D292134}"/>
              </a:ext>
            </a:extLst>
          </p:cNvPr>
          <p:cNvSpPr/>
          <p:nvPr/>
        </p:nvSpPr>
        <p:spPr>
          <a:xfrm>
            <a:off x="-5080051" y="3599609"/>
            <a:ext cx="4680000" cy="2880000"/>
          </a:xfrm>
          <a:prstGeom prst="roundRect">
            <a:avLst>
              <a:gd name="adj" fmla="val 5202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13x8 cm</a:t>
            </a:r>
            <a:endParaRPr lang="en-IN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834AD2-6731-64D9-EB6E-F9D1CA09EECC}"/>
              </a:ext>
            </a:extLst>
          </p:cNvPr>
          <p:cNvSpPr/>
          <p:nvPr/>
        </p:nvSpPr>
        <p:spPr>
          <a:xfrm>
            <a:off x="-4180051" y="4192418"/>
            <a:ext cx="2880000" cy="1800000"/>
          </a:xfrm>
          <a:prstGeom prst="roundRect">
            <a:avLst>
              <a:gd name="adj" fmla="val 6789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8x5 cm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041F6B-2BA1-F6D1-57AC-DBFE2BB17FAD}"/>
              </a:ext>
            </a:extLst>
          </p:cNvPr>
          <p:cNvSpPr/>
          <p:nvPr/>
        </p:nvSpPr>
        <p:spPr>
          <a:xfrm>
            <a:off x="-3640051" y="4552418"/>
            <a:ext cx="1800000" cy="1080000"/>
          </a:xfrm>
          <a:prstGeom prst="roundRect">
            <a:avLst>
              <a:gd name="adj" fmla="val 8436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5x3 cm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AA691FB-CB47-1A41-B4AF-7EC43B5E6DBE}"/>
              </a:ext>
            </a:extLst>
          </p:cNvPr>
          <p:cNvSpPr/>
          <p:nvPr/>
        </p:nvSpPr>
        <p:spPr>
          <a:xfrm>
            <a:off x="-3280051" y="4732418"/>
            <a:ext cx="1080000" cy="720000"/>
          </a:xfrm>
          <a:prstGeom prst="roundRect">
            <a:avLst>
              <a:gd name="adj" fmla="val 18431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  <a:t>3x2 cm</a:t>
            </a:r>
            <a:endParaRPr lang="en-IN" sz="1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C31FD87-A0B5-FB72-7B92-000ACA98DDE5}"/>
              </a:ext>
            </a:extLst>
          </p:cNvPr>
          <p:cNvSpPr/>
          <p:nvPr/>
        </p:nvSpPr>
        <p:spPr>
          <a:xfrm>
            <a:off x="-3100051" y="4912418"/>
            <a:ext cx="720000" cy="360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rial Black" panose="020B0A04020102020204" pitchFamily="34" charset="0"/>
              </a:rPr>
              <a:t>2x1 cm</a:t>
            </a:r>
            <a:endParaRPr lang="en-IN" sz="105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A534CC-CB3B-D230-64C1-6E1AA259FC19}"/>
              </a:ext>
            </a:extLst>
          </p:cNvPr>
          <p:cNvSpPr txBox="1"/>
          <p:nvPr/>
        </p:nvSpPr>
        <p:spPr>
          <a:xfrm>
            <a:off x="9462369" y="6293662"/>
            <a:ext cx="65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B99F49-452F-E727-4E99-721AFCBD7BEB}"/>
              </a:ext>
            </a:extLst>
          </p:cNvPr>
          <p:cNvSpPr/>
          <p:nvPr/>
        </p:nvSpPr>
        <p:spPr>
          <a:xfrm>
            <a:off x="10307451" y="4989439"/>
            <a:ext cx="1800000" cy="1800000"/>
          </a:xfrm>
          <a:prstGeom prst="roundRect">
            <a:avLst>
              <a:gd name="adj" fmla="val 5555"/>
            </a:avLst>
          </a:prstGeom>
          <a:solidFill>
            <a:schemeClr val="accent1">
              <a:lumMod val="60000"/>
              <a:lumOff val="40000"/>
            </a:schemeClr>
          </a:solidFill>
          <a:ln w="1270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5x5 cm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DAAC4B-FA1E-325F-364D-2D2D91A776C4}"/>
              </a:ext>
            </a:extLst>
          </p:cNvPr>
          <p:cNvSpPr txBox="1"/>
          <p:nvPr/>
        </p:nvSpPr>
        <p:spPr>
          <a:xfrm>
            <a:off x="10880879" y="6247890"/>
            <a:ext cx="65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Arial Black" panose="020B0A04020102020204" pitchFamily="34" charset="0"/>
              </a:rPr>
              <a:t>1.6</a:t>
            </a:r>
          </a:p>
        </p:txBody>
      </p:sp>
    </p:spTree>
    <p:extLst>
      <p:ext uri="{BB962C8B-B14F-4D97-AF65-F5344CB8AC3E}">
        <p14:creationId xmlns:p14="http://schemas.microsoft.com/office/powerpoint/2010/main" val="1358909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94385A-F455-A904-6714-5A0178156804}"/>
              </a:ext>
            </a:extLst>
          </p:cNvPr>
          <p:cNvSpPr/>
          <p:nvPr/>
        </p:nvSpPr>
        <p:spPr>
          <a:xfrm>
            <a:off x="-394267" y="-15746784"/>
            <a:ext cx="12992098" cy="292873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dist="127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87C1926-1194-09F7-AFCC-4B8543CA962E}"/>
              </a:ext>
            </a:extLst>
          </p:cNvPr>
          <p:cNvSpPr/>
          <p:nvPr/>
        </p:nvSpPr>
        <p:spPr>
          <a:xfrm>
            <a:off x="-3537519" y="6558753"/>
            <a:ext cx="3143252" cy="86498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D9DA3A7B-71EB-E7C7-0A69-FC01D895A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4287" y="5444655"/>
            <a:ext cx="4315703" cy="111409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Formula: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8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F</a:t>
            </a:r>
            <a:r>
              <a:rPr lang="en-US" altLang="en-US" sz="4000" dirty="0" err="1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</a:t>
            </a:r>
            <a:r>
              <a:rPr lang="en-US" altLang="en-US" sz="48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=F</a:t>
            </a:r>
            <a:r>
              <a:rPr lang="en-US" altLang="en-US" sz="40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Yu Gothic UI Semibold" panose="020B0700000000000000" pitchFamily="34" charset="-128"/>
              </a:rPr>
              <a:t>n-1</a:t>
            </a:r>
            <a:endParaRPr kumimoji="0" lang="en-US" altLang="en-US" sz="400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Bahnschrift SemiBold SemiConden" panose="020B0502040204020203" pitchFamily="34" charset="0"/>
              <a:ea typeface="Yu Gothic UI Semibold" panose="020B0700000000000000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Bahnschrift SemiBold SemiConden" panose="020B0502040204020203" pitchFamily="34" charset="0"/>
              <a:ea typeface="Yu Gothic UI Semibold" panose="020B07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07A68F-C5DF-2B32-24EE-98E30D600E12}"/>
                  </a:ext>
                </a:extLst>
              </p:cNvPr>
              <p:cNvSpPr txBox="1"/>
              <p:nvPr/>
            </p:nvSpPr>
            <p:spPr>
              <a:xfrm>
                <a:off x="-3188729" y="6693727"/>
                <a:ext cx="2445670" cy="595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𝛗</m:t>
                    </m:r>
                    <m:r>
                      <a:rPr lang="en-US" sz="24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24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1" i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e>
                        </m:rad>
                      </m:num>
                      <m:den>
                        <m:r>
                          <a:rPr lang="en-US" sz="2400" b="1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IN" sz="24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Arial Black" panose="020B0A04020102020204" pitchFamily="34" charset="0"/>
                  </a:rPr>
                  <a:t> =1.618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07A68F-C5DF-2B32-24EE-98E30D600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88729" y="6693727"/>
                <a:ext cx="2445670" cy="595035"/>
              </a:xfrm>
              <a:prstGeom prst="rect">
                <a:avLst/>
              </a:prstGeom>
              <a:blipFill>
                <a:blip r:embed="rId2"/>
                <a:stretch>
                  <a:fillRect r="-6484" b="-18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D8D40E9-7D35-B0C2-3018-45ADA9E4E18A}"/>
              </a:ext>
            </a:extLst>
          </p:cNvPr>
          <p:cNvSpPr txBox="1"/>
          <p:nvPr/>
        </p:nvSpPr>
        <p:spPr>
          <a:xfrm>
            <a:off x="3003328" y="1241063"/>
            <a:ext cx="63079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Rectangles that are in the golden ratio have side lengths in the special proportion of approximately 1.618 to 1, known as the golden ratio (denoted by the Greek letter </a:t>
            </a:r>
            <a:r>
              <a:rPr lang="en-US" b="0" dirty="0" err="1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φ</a:t>
            </a:r>
            <a:r>
              <a:rPr lang="en-US" b="0" i="1" dirty="0" err="1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φ</a:t>
            </a: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).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F</a:t>
            </a: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eature of golden rectangles is their self-similarity: if you remove a square from one end, the remaining smaller rectangle is also a golden rectangle with the same proportions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5CC8DE3-86D5-2501-9B5E-F87635CC51BB}"/>
              </a:ext>
            </a:extLst>
          </p:cNvPr>
          <p:cNvSpPr/>
          <p:nvPr/>
        </p:nvSpPr>
        <p:spPr>
          <a:xfrm>
            <a:off x="12395846" y="4888817"/>
            <a:ext cx="2880000" cy="1800000"/>
          </a:xfrm>
          <a:prstGeom prst="roundRect">
            <a:avLst>
              <a:gd name="adj" fmla="val 5555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8x5  cm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B2EE9F8-3248-6E61-40C5-18FF257AF55C}"/>
              </a:ext>
            </a:extLst>
          </p:cNvPr>
          <p:cNvSpPr/>
          <p:nvPr/>
        </p:nvSpPr>
        <p:spPr>
          <a:xfrm>
            <a:off x="12395846" y="4888817"/>
            <a:ext cx="1800000" cy="1800000"/>
          </a:xfrm>
          <a:prstGeom prst="roundRect">
            <a:avLst>
              <a:gd name="adj" fmla="val 5555"/>
            </a:avLst>
          </a:prstGeom>
          <a:solidFill>
            <a:schemeClr val="accent1">
              <a:lumMod val="60000"/>
              <a:lumOff val="40000"/>
            </a:schemeClr>
          </a:solidFill>
          <a:ln w="1270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5x5 cm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86FD31-C922-CE94-DF76-46E6139E1064}"/>
              </a:ext>
            </a:extLst>
          </p:cNvPr>
          <p:cNvSpPr txBox="1"/>
          <p:nvPr/>
        </p:nvSpPr>
        <p:spPr>
          <a:xfrm>
            <a:off x="14195846" y="5610478"/>
            <a:ext cx="108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  <a:t>3x5 cm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50322B-ADB1-CCB1-9D49-49A06BD0CAD6}"/>
              </a:ext>
            </a:extLst>
          </p:cNvPr>
          <p:cNvSpPr/>
          <p:nvPr/>
        </p:nvSpPr>
        <p:spPr>
          <a:xfrm>
            <a:off x="141991" y="3599609"/>
            <a:ext cx="4680000" cy="2880000"/>
          </a:xfrm>
          <a:prstGeom prst="roundRect">
            <a:avLst>
              <a:gd name="adj" fmla="val 2115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13x8 cm</a:t>
            </a:r>
            <a:endParaRPr lang="en-IN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19F5829-9049-9921-FCE6-377C254D1890}"/>
              </a:ext>
            </a:extLst>
          </p:cNvPr>
          <p:cNvSpPr/>
          <p:nvPr/>
        </p:nvSpPr>
        <p:spPr>
          <a:xfrm>
            <a:off x="4932153" y="4139609"/>
            <a:ext cx="2880000" cy="1800000"/>
          </a:xfrm>
          <a:prstGeom prst="roundRect">
            <a:avLst>
              <a:gd name="adj" fmla="val 6083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8x5 cm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5BFE97E-F01F-A367-157A-1C82E16D785A}"/>
              </a:ext>
            </a:extLst>
          </p:cNvPr>
          <p:cNvSpPr/>
          <p:nvPr/>
        </p:nvSpPr>
        <p:spPr>
          <a:xfrm>
            <a:off x="7922315" y="4499609"/>
            <a:ext cx="1800000" cy="1080000"/>
          </a:xfrm>
          <a:prstGeom prst="roundRect">
            <a:avLst>
              <a:gd name="adj" fmla="val 726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5x3 cm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A158238-3136-D622-D965-9B00DAA83257}"/>
              </a:ext>
            </a:extLst>
          </p:cNvPr>
          <p:cNvSpPr/>
          <p:nvPr/>
        </p:nvSpPr>
        <p:spPr>
          <a:xfrm>
            <a:off x="9828443" y="4684401"/>
            <a:ext cx="1080000" cy="720000"/>
          </a:xfrm>
          <a:prstGeom prst="roundRect">
            <a:avLst>
              <a:gd name="adj" fmla="val 1666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  <a:t>3x2 cm</a:t>
            </a:r>
            <a:endParaRPr lang="en-IN" sz="1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8C17E11-6A76-AD95-0AF9-C6DC14B44C17}"/>
              </a:ext>
            </a:extLst>
          </p:cNvPr>
          <p:cNvSpPr/>
          <p:nvPr/>
        </p:nvSpPr>
        <p:spPr>
          <a:xfrm>
            <a:off x="11014571" y="4859609"/>
            <a:ext cx="720000" cy="360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rial Black" panose="020B0A04020102020204" pitchFamily="34" charset="0"/>
              </a:rPr>
              <a:t>2x1 cm</a:t>
            </a:r>
            <a:endParaRPr lang="en-IN" sz="105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B20C34-6C1F-FF44-5030-50C5C1A3CD0C}"/>
              </a:ext>
            </a:extLst>
          </p:cNvPr>
          <p:cNvSpPr txBox="1"/>
          <p:nvPr/>
        </p:nvSpPr>
        <p:spPr>
          <a:xfrm>
            <a:off x="1609653" y="2979791"/>
            <a:ext cx="9525000" cy="46220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b="0" i="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</a:rPr>
              <a:t>55 / 34 ≈ 1.6177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Rockwell" panose="02060603020205020403" pitchFamily="18" charset="0"/>
              </a:rPr>
              <a:t>   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Rockwell" panose="02060603020205020403" pitchFamily="18" charset="0"/>
              </a:rPr>
              <a:t>13/8 = 1.625  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ckwell" panose="02060603020205020403" pitchFamily="18" charset="0"/>
              </a:rPr>
              <a:t>8/5   = 1.6   </a:t>
            </a:r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  <a:latin typeface="Rockwell" panose="02060603020205020403" pitchFamily="18" charset="0"/>
              </a:rPr>
              <a:t>5/3   = 1.6666   </a:t>
            </a:r>
            <a:r>
              <a:rPr lang="en-IN" b="1" dirty="0">
                <a:solidFill>
                  <a:schemeClr val="tx2">
                    <a:lumMod val="25000"/>
                    <a:lumOff val="75000"/>
                  </a:schemeClr>
                </a:solidFill>
                <a:latin typeface="Rockwell" panose="02060603020205020403" pitchFamily="18" charset="0"/>
              </a:rPr>
              <a:t>3/2   = 1.5   </a:t>
            </a:r>
            <a:r>
              <a:rPr lang="en-IN" b="1" dirty="0">
                <a:solidFill>
                  <a:srgbClr val="002060"/>
                </a:solidFill>
                <a:latin typeface="Rockwell" panose="02060603020205020403" pitchFamily="18" charset="0"/>
              </a:rPr>
              <a:t>2/1   =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7C70C0-8B7E-474C-36C4-446F07A2EDB3}"/>
              </a:ext>
            </a:extLst>
          </p:cNvPr>
          <p:cNvSpPr txBox="1"/>
          <p:nvPr/>
        </p:nvSpPr>
        <p:spPr>
          <a:xfrm>
            <a:off x="3171752" y="9136658"/>
            <a:ext cx="64008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cs typeface="Palanquin Dark" panose="020B0804020203020204" pitchFamily="34" charset="0"/>
              </a:rPr>
              <a:t>Where the world used The Golden Rectangle?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Bahnschrift SemiBold" panose="020B0502040204020203" pitchFamily="34" charset="0"/>
              <a:cs typeface="Palanquin Dark" panose="020B08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167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94385A-F455-A904-6714-5A0178156804}"/>
              </a:ext>
            </a:extLst>
          </p:cNvPr>
          <p:cNvSpPr/>
          <p:nvPr/>
        </p:nvSpPr>
        <p:spPr>
          <a:xfrm>
            <a:off x="-519253" y="-15526247"/>
            <a:ext cx="13230503" cy="1846349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dist="127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C7667E-E06A-40F5-B992-7D1B28CBAA15}"/>
              </a:ext>
            </a:extLst>
          </p:cNvPr>
          <p:cNvSpPr txBox="1"/>
          <p:nvPr/>
        </p:nvSpPr>
        <p:spPr>
          <a:xfrm>
            <a:off x="2895599" y="752674"/>
            <a:ext cx="64008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  <a:cs typeface="Palanquin Dark" panose="020B0804020203020204" pitchFamily="34" charset="0"/>
              </a:rPr>
              <a:t>Where the world used The Golden Rectangle?</a:t>
            </a:r>
            <a:endParaRPr lang="en-IN" sz="4000" dirty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  <a:cs typeface="Palanquin Dark" panose="020B0804020203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4CC0EC-A862-0411-F7A4-B08CFA66E1B5}"/>
              </a:ext>
            </a:extLst>
          </p:cNvPr>
          <p:cNvGrpSpPr/>
          <p:nvPr/>
        </p:nvGrpSpPr>
        <p:grpSpPr>
          <a:xfrm>
            <a:off x="1990766" y="3202408"/>
            <a:ext cx="1323439" cy="1521522"/>
            <a:chOff x="1990766" y="2937249"/>
            <a:chExt cx="1323439" cy="1521522"/>
          </a:xfrm>
        </p:grpSpPr>
        <p:pic>
          <p:nvPicPr>
            <p:cNvPr id="41" name="Graphic 40" descr="Forest scene with solid fill">
              <a:extLst>
                <a:ext uri="{FF2B5EF4-FFF2-40B4-BE49-F238E27FC236}">
                  <a16:creationId xmlns:a16="http://schemas.microsoft.com/office/drawing/2014/main" id="{014601CA-21BE-1F2C-3762-4CFC419D7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90766" y="2937249"/>
              <a:ext cx="1323439" cy="1323439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6E58AE2-B585-06BC-C8EA-3E565F6B6E7F}"/>
                </a:ext>
              </a:extLst>
            </p:cNvPr>
            <p:cNvSpPr txBox="1"/>
            <p:nvPr/>
          </p:nvSpPr>
          <p:spPr>
            <a:xfrm>
              <a:off x="1990766" y="4089439"/>
              <a:ext cx="132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Nature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5058F80-62AB-43AA-BAED-5E583EA42B8A}"/>
              </a:ext>
            </a:extLst>
          </p:cNvPr>
          <p:cNvGrpSpPr/>
          <p:nvPr/>
        </p:nvGrpSpPr>
        <p:grpSpPr>
          <a:xfrm>
            <a:off x="5223424" y="3202408"/>
            <a:ext cx="1745152" cy="1508105"/>
            <a:chOff x="5223424" y="2937249"/>
            <a:chExt cx="1745152" cy="1508105"/>
          </a:xfrm>
        </p:grpSpPr>
        <p:pic>
          <p:nvPicPr>
            <p:cNvPr id="37" name="Graphic 36" descr="City with solid fill">
              <a:extLst>
                <a:ext uri="{FF2B5EF4-FFF2-40B4-BE49-F238E27FC236}">
                  <a16:creationId xmlns:a16="http://schemas.microsoft.com/office/drawing/2014/main" id="{F131447E-80EF-8DE8-4633-0006B417E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34280" y="2937249"/>
              <a:ext cx="1323439" cy="1323439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8AAD721-FC14-E9C9-8F1C-C208B94BBFF2}"/>
                </a:ext>
              </a:extLst>
            </p:cNvPr>
            <p:cNvSpPr txBox="1"/>
            <p:nvPr/>
          </p:nvSpPr>
          <p:spPr>
            <a:xfrm>
              <a:off x="5223424" y="4076022"/>
              <a:ext cx="1745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Architecture 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B3E3CFF-CC0E-58D1-3E4E-0E429484D863}"/>
              </a:ext>
            </a:extLst>
          </p:cNvPr>
          <p:cNvGrpSpPr/>
          <p:nvPr/>
        </p:nvGrpSpPr>
        <p:grpSpPr>
          <a:xfrm>
            <a:off x="8877794" y="3203688"/>
            <a:ext cx="1323440" cy="1493408"/>
            <a:chOff x="8877794" y="2938529"/>
            <a:chExt cx="1323440" cy="1493408"/>
          </a:xfrm>
        </p:grpSpPr>
        <p:pic>
          <p:nvPicPr>
            <p:cNvPr id="35" name="Graphic 34" descr="Palette with solid fill">
              <a:extLst>
                <a:ext uri="{FF2B5EF4-FFF2-40B4-BE49-F238E27FC236}">
                  <a16:creationId xmlns:a16="http://schemas.microsoft.com/office/drawing/2014/main" id="{D81ECED1-6B50-5087-EF16-0F8BAF755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77795" y="2938529"/>
              <a:ext cx="1323439" cy="1323439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36D5154-43AB-5357-653B-DC06EF2F94AA}"/>
                </a:ext>
              </a:extLst>
            </p:cNvPr>
            <p:cNvSpPr txBox="1"/>
            <p:nvPr/>
          </p:nvSpPr>
          <p:spPr>
            <a:xfrm>
              <a:off x="8877794" y="4062605"/>
              <a:ext cx="132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Arts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0A7F1BBE-32FF-B15B-755F-1921DA1BF93B}"/>
              </a:ext>
            </a:extLst>
          </p:cNvPr>
          <p:cNvSpPr txBox="1"/>
          <p:nvPr/>
        </p:nvSpPr>
        <p:spPr>
          <a:xfrm>
            <a:off x="2727175" y="-3802884"/>
            <a:ext cx="63079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Rectangles that are in the golden ratio have side lengths in the special proportion of approximately 1.618 to 1, known as the golden ratio (denoted by the Greek letter </a:t>
            </a:r>
            <a:r>
              <a:rPr lang="en-US" b="0" dirty="0" err="1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φ</a:t>
            </a:r>
            <a:r>
              <a:rPr lang="en-US" b="0" i="1" dirty="0" err="1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φ</a:t>
            </a: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).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ahnschrift Condensed" panose="020B0502040204020203" pitchFamily="34" charset="0"/>
              </a:rPr>
              <a:t>F</a:t>
            </a:r>
            <a:r>
              <a:rPr lang="en-US" b="0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eature of golden rectangles is their self-similarity: if you remove a square from one end, the remaining smaller rectangle is also a golden rectangle with the same proportions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A6A95F-9491-7C42-8CA4-DBE53E2B89F8}"/>
              </a:ext>
            </a:extLst>
          </p:cNvPr>
          <p:cNvSpPr txBox="1"/>
          <p:nvPr/>
        </p:nvSpPr>
        <p:spPr>
          <a:xfrm>
            <a:off x="1333500" y="-2064156"/>
            <a:ext cx="9525000" cy="46220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b="0" i="0" dirty="0">
                <a:solidFill>
                  <a:schemeClr val="accent1">
                    <a:lumMod val="50000"/>
                  </a:schemeClr>
                </a:solidFill>
                <a:effectLst/>
                <a:latin typeface="Arial Black" panose="020B0A04020102020204" pitchFamily="34" charset="0"/>
              </a:rPr>
              <a:t>55 / 34 ≈ 1.6177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Rockwell" panose="02060603020205020403" pitchFamily="18" charset="0"/>
              </a:rPr>
              <a:t>   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Rockwell" panose="02060603020205020403" pitchFamily="18" charset="0"/>
              </a:rPr>
              <a:t>13/8 = 1.625  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ckwell" panose="02060603020205020403" pitchFamily="18" charset="0"/>
              </a:rPr>
              <a:t>8/5   = 1.6   </a:t>
            </a:r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  <a:latin typeface="Rockwell" panose="02060603020205020403" pitchFamily="18" charset="0"/>
              </a:rPr>
              <a:t>5/3   = 1.6666   </a:t>
            </a:r>
            <a:r>
              <a:rPr lang="en-IN" b="1" dirty="0">
                <a:solidFill>
                  <a:schemeClr val="tx2">
                    <a:lumMod val="25000"/>
                    <a:lumOff val="75000"/>
                  </a:schemeClr>
                </a:solidFill>
                <a:latin typeface="Rockwell" panose="02060603020205020403" pitchFamily="18" charset="0"/>
              </a:rPr>
              <a:t>3/2   = 1.5   </a:t>
            </a:r>
            <a:r>
              <a:rPr lang="en-IN" b="1" dirty="0">
                <a:solidFill>
                  <a:srgbClr val="002060"/>
                </a:solidFill>
                <a:latin typeface="Rockwell" panose="02060603020205020403" pitchFamily="18" charset="0"/>
              </a:rPr>
              <a:t>2/1   = 2</a:t>
            </a:r>
          </a:p>
        </p:txBody>
      </p:sp>
      <p:pic>
        <p:nvPicPr>
          <p:cNvPr id="57" name="Graphic 56" descr="Building with solid fill">
            <a:extLst>
              <a:ext uri="{FF2B5EF4-FFF2-40B4-BE49-F238E27FC236}">
                <a16:creationId xmlns:a16="http://schemas.microsoft.com/office/drawing/2014/main" id="{E666E52C-A5C0-B861-3F3F-498A5D9B5C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053981">
            <a:off x="5802563" y="7011291"/>
            <a:ext cx="914400" cy="914400"/>
          </a:xfrm>
          <a:prstGeom prst="rect">
            <a:avLst/>
          </a:prstGeom>
        </p:spPr>
      </p:pic>
      <p:pic>
        <p:nvPicPr>
          <p:cNvPr id="58" name="Graphic 57" descr="Tools with solid fill">
            <a:extLst>
              <a:ext uri="{FF2B5EF4-FFF2-40B4-BE49-F238E27FC236}">
                <a16:creationId xmlns:a16="http://schemas.microsoft.com/office/drawing/2014/main" id="{F5563461-519A-F334-98F7-E0D183BB53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1149654">
            <a:off x="5802563" y="7011291"/>
            <a:ext cx="914400" cy="914400"/>
          </a:xfrm>
          <a:prstGeom prst="rect">
            <a:avLst/>
          </a:prstGeom>
        </p:spPr>
      </p:pic>
      <p:pic>
        <p:nvPicPr>
          <p:cNvPr id="59" name="Graphic 58" descr="House with solid fill">
            <a:extLst>
              <a:ext uri="{FF2B5EF4-FFF2-40B4-BE49-F238E27FC236}">
                <a16:creationId xmlns:a16="http://schemas.microsoft.com/office/drawing/2014/main" id="{0402B1CC-2EFB-8FC4-7EB7-2AA5C65FC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2266">
            <a:off x="5802563" y="7011291"/>
            <a:ext cx="914400" cy="914400"/>
          </a:xfrm>
          <a:prstGeom prst="rect">
            <a:avLst/>
          </a:prstGeom>
        </p:spPr>
      </p:pic>
      <p:pic>
        <p:nvPicPr>
          <p:cNvPr id="60" name="Graphic 59" descr="Car with solid fill">
            <a:extLst>
              <a:ext uri="{FF2B5EF4-FFF2-40B4-BE49-F238E27FC236}">
                <a16:creationId xmlns:a16="http://schemas.microsoft.com/office/drawing/2014/main" id="{8909E378-35F9-B17F-F4E9-8731DACC8E6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004221">
            <a:off x="5802563" y="7011291"/>
            <a:ext cx="914400" cy="914400"/>
          </a:xfrm>
          <a:prstGeom prst="rect">
            <a:avLst/>
          </a:prstGeom>
        </p:spPr>
      </p:pic>
      <p:pic>
        <p:nvPicPr>
          <p:cNvPr id="61" name="Graphic 60" descr="Computer with solid fill">
            <a:extLst>
              <a:ext uri="{FF2B5EF4-FFF2-40B4-BE49-F238E27FC236}">
                <a16:creationId xmlns:a16="http://schemas.microsoft.com/office/drawing/2014/main" id="{37BB4442-35C0-E374-7788-E5DD07975DC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20893478">
            <a:off x="5802563" y="7011291"/>
            <a:ext cx="914400" cy="9144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1CAD43-BF3E-9F07-48E8-DE95635393B5}"/>
              </a:ext>
            </a:extLst>
          </p:cNvPr>
          <p:cNvSpPr/>
          <p:nvPr/>
        </p:nvSpPr>
        <p:spPr>
          <a:xfrm>
            <a:off x="-5080051" y="3599609"/>
            <a:ext cx="4680000" cy="2880000"/>
          </a:xfrm>
          <a:prstGeom prst="roundRect">
            <a:avLst>
              <a:gd name="adj" fmla="val 5202"/>
            </a:avLst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13x8 cm</a:t>
            </a:r>
            <a:endParaRPr lang="en-IN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AFB494-D985-715C-5B9B-570D7F16290F}"/>
              </a:ext>
            </a:extLst>
          </p:cNvPr>
          <p:cNvSpPr/>
          <p:nvPr/>
        </p:nvSpPr>
        <p:spPr>
          <a:xfrm>
            <a:off x="-4180051" y="4192418"/>
            <a:ext cx="2880000" cy="1800000"/>
          </a:xfrm>
          <a:prstGeom prst="roundRect">
            <a:avLst>
              <a:gd name="adj" fmla="val 6789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8x5 cm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817632-C401-78B3-5645-CF1DE7F6F77C}"/>
              </a:ext>
            </a:extLst>
          </p:cNvPr>
          <p:cNvSpPr/>
          <p:nvPr/>
        </p:nvSpPr>
        <p:spPr>
          <a:xfrm>
            <a:off x="-3640051" y="4552418"/>
            <a:ext cx="1800000" cy="1080000"/>
          </a:xfrm>
          <a:prstGeom prst="roundRect">
            <a:avLst>
              <a:gd name="adj" fmla="val 8436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5x3 cm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C3F9D0-112F-3E83-EC35-B1C8488A5912}"/>
              </a:ext>
            </a:extLst>
          </p:cNvPr>
          <p:cNvSpPr/>
          <p:nvPr/>
        </p:nvSpPr>
        <p:spPr>
          <a:xfrm>
            <a:off x="-3280051" y="4732418"/>
            <a:ext cx="1080000" cy="720000"/>
          </a:xfrm>
          <a:prstGeom prst="roundRect">
            <a:avLst>
              <a:gd name="adj" fmla="val 18431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  <a:t>3x2 cm</a:t>
            </a:r>
            <a:endParaRPr lang="en-IN" sz="1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F08D45-BED4-2773-1FD8-23A0147330B4}"/>
              </a:ext>
            </a:extLst>
          </p:cNvPr>
          <p:cNvSpPr/>
          <p:nvPr/>
        </p:nvSpPr>
        <p:spPr>
          <a:xfrm>
            <a:off x="-3100051" y="4912418"/>
            <a:ext cx="720000" cy="360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rial Black" panose="020B0A04020102020204" pitchFamily="34" charset="0"/>
              </a:rPr>
              <a:t>2x1 cm</a:t>
            </a:r>
            <a:endParaRPr lang="en-IN" sz="105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DEF3577-BDEF-19CB-D948-AB6A835EA49C}"/>
              </a:ext>
            </a:extLst>
          </p:cNvPr>
          <p:cNvSpPr/>
          <p:nvPr/>
        </p:nvSpPr>
        <p:spPr>
          <a:xfrm>
            <a:off x="362109" y="8267324"/>
            <a:ext cx="2337387" cy="1574331"/>
          </a:xfrm>
          <a:prstGeom prst="roundRect">
            <a:avLst>
              <a:gd name="adj" fmla="val 50000"/>
            </a:avLst>
          </a:prstGeom>
          <a:blipFill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E06281-E1EC-5EE4-3B7C-BDC091F53B34}"/>
              </a:ext>
            </a:extLst>
          </p:cNvPr>
          <p:cNvSpPr/>
          <p:nvPr/>
        </p:nvSpPr>
        <p:spPr>
          <a:xfrm>
            <a:off x="9492499" y="10466566"/>
            <a:ext cx="2337387" cy="1574331"/>
          </a:xfrm>
          <a:prstGeom prst="roundRect">
            <a:avLst>
              <a:gd name="adj" fmla="val 50000"/>
            </a:avLst>
          </a:prstGeom>
          <a:blipFill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4D1C0B-65ED-3E26-EE1C-C1E70FD57E67}"/>
              </a:ext>
            </a:extLst>
          </p:cNvPr>
          <p:cNvSpPr txBox="1"/>
          <p:nvPr/>
        </p:nvSpPr>
        <p:spPr>
          <a:xfrm>
            <a:off x="2104529" y="7406188"/>
            <a:ext cx="831046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eaLnBrk="1" latinLnBrk="0" hangingPunct="1"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  <a:cs typeface="Arial" panose="020B0604020202020204" pitchFamily="34" charset="0"/>
              </a:rPr>
              <a:t>Parthenon, Greece: </a:t>
            </a:r>
            <a:r>
              <a:rPr lang="en-IN" sz="1600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  <a:cs typeface="Arial" panose="020B0604020202020204" pitchFamily="34" charset="0"/>
              </a:rPr>
              <a:t>Facade and columns follow golden rectangles for harmonious design.</a:t>
            </a:r>
            <a:endParaRPr lang="en-IN" sz="1600" b="1" dirty="0">
              <a:solidFill>
                <a:schemeClr val="accent1">
                  <a:lumMod val="75000"/>
                </a:schemeClr>
              </a:solidFill>
              <a:effectLst/>
              <a:latin typeface="Bahnschrift SemiBold" panose="020B0502040204020203" pitchFamily="34" charset="0"/>
              <a:cs typeface="Arial" panose="020B0604020202020204" pitchFamily="34" charset="0"/>
            </a:endParaRPr>
          </a:p>
          <a:p>
            <a:pPr marL="285750" indent="-28575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  <a:cs typeface="Arial" panose="020B0604020202020204" pitchFamily="34" charset="0"/>
              </a:rPr>
              <a:t>Villa Stein, France: </a:t>
            </a:r>
            <a:r>
              <a:rPr lang="en-IN" sz="1600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  <a:cs typeface="Arial" panose="020B0604020202020204" pitchFamily="34" charset="0"/>
              </a:rPr>
              <a:t>Le Corbusier used golden rectangles in layout and windows.</a:t>
            </a:r>
            <a:endParaRPr lang="en-IN" sz="1600" b="1" dirty="0">
              <a:solidFill>
                <a:schemeClr val="accent1">
                  <a:lumMod val="75000"/>
                </a:schemeClr>
              </a:solidFill>
              <a:effectLst/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281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94385A-F455-A904-6714-5A0178156804}"/>
              </a:ext>
            </a:extLst>
          </p:cNvPr>
          <p:cNvSpPr/>
          <p:nvPr/>
        </p:nvSpPr>
        <p:spPr>
          <a:xfrm>
            <a:off x="-457936" y="-20208772"/>
            <a:ext cx="13230503" cy="1846349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dist="127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C7667E-E06A-40F5-B992-7D1B28CBAA15}"/>
              </a:ext>
            </a:extLst>
          </p:cNvPr>
          <p:cNvSpPr txBox="1"/>
          <p:nvPr/>
        </p:nvSpPr>
        <p:spPr>
          <a:xfrm>
            <a:off x="2956914" y="-5782302"/>
            <a:ext cx="64008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cs typeface="Palanquin Dark" panose="020B0804020203020204" pitchFamily="34" charset="0"/>
              </a:rPr>
              <a:t>Where the world used The Golden Rectangle?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Bahnschrift SemiBold" panose="020B0502040204020203" pitchFamily="34" charset="0"/>
              <a:cs typeface="Palanquin Dark" panose="020B08040202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25C9A8-D061-1265-8FF2-9129149AEF28}"/>
              </a:ext>
            </a:extLst>
          </p:cNvPr>
          <p:cNvSpPr txBox="1"/>
          <p:nvPr/>
        </p:nvSpPr>
        <p:spPr>
          <a:xfrm>
            <a:off x="2002081" y="4187439"/>
            <a:ext cx="831046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eaLnBrk="1" latinLnBrk="0" hangingPunct="1"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i="0" u="sng" kern="12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Parthenon, Greece:</a:t>
            </a:r>
            <a:r>
              <a:rPr lang="en-IN" b="1" i="0" u="sng" kern="12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 </a:t>
            </a:r>
            <a:r>
              <a:rPr lang="en-IN" sz="1600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  <a:cs typeface="Arial" panose="020B0604020202020204" pitchFamily="34" charset="0"/>
              </a:rPr>
              <a:t>Facade and columns follow golden rectangles for harmonious design.</a:t>
            </a:r>
            <a:endParaRPr lang="en-IN" sz="1600" b="1" dirty="0">
              <a:solidFill>
                <a:schemeClr val="accent1">
                  <a:lumMod val="75000"/>
                </a:schemeClr>
              </a:solidFill>
              <a:effectLst/>
              <a:latin typeface="Bahnschrift SemiBold" panose="020B0502040204020203" pitchFamily="34" charset="0"/>
              <a:cs typeface="Arial" panose="020B0604020202020204" pitchFamily="34" charset="0"/>
            </a:endParaRPr>
          </a:p>
          <a:p>
            <a:pPr marL="285750" indent="-28575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b="1" i="0" u="sng" kern="120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  <a:cs typeface="Arial" panose="020B0604020202020204" pitchFamily="34" charset="0"/>
              </a:rPr>
              <a:t>Villa Stein, France: </a:t>
            </a:r>
            <a:r>
              <a:rPr lang="en-IN" sz="1600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  <a:cs typeface="Arial" panose="020B0604020202020204" pitchFamily="34" charset="0"/>
              </a:rPr>
              <a:t>Le Corbusier used golden rectangles in layout and windows.</a:t>
            </a:r>
            <a:endParaRPr lang="en-IN" sz="1600" b="1" dirty="0">
              <a:solidFill>
                <a:schemeClr val="accent1">
                  <a:lumMod val="75000"/>
                </a:schemeClr>
              </a:solidFill>
              <a:effectLst/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26" name="Graphic 25" descr="Building with solid fill">
            <a:extLst>
              <a:ext uri="{FF2B5EF4-FFF2-40B4-BE49-F238E27FC236}">
                <a16:creationId xmlns:a16="http://schemas.microsoft.com/office/drawing/2014/main" id="{B193C7C7-C5DD-1200-D1E5-7DE32E829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426611">
            <a:off x="7701771" y="638500"/>
            <a:ext cx="914400" cy="914400"/>
          </a:xfrm>
          <a:prstGeom prst="rect">
            <a:avLst/>
          </a:prstGeom>
        </p:spPr>
      </p:pic>
      <p:pic>
        <p:nvPicPr>
          <p:cNvPr id="32" name="Graphic 31" descr="Tools with solid fill">
            <a:extLst>
              <a:ext uri="{FF2B5EF4-FFF2-40B4-BE49-F238E27FC236}">
                <a16:creationId xmlns:a16="http://schemas.microsoft.com/office/drawing/2014/main" id="{E3DEAD57-4A4B-6098-C9EE-6CEE7DD7C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149654">
            <a:off x="1776462" y="2440661"/>
            <a:ext cx="914400" cy="914400"/>
          </a:xfrm>
          <a:prstGeom prst="rect">
            <a:avLst/>
          </a:prstGeom>
        </p:spPr>
      </p:pic>
      <p:pic>
        <p:nvPicPr>
          <p:cNvPr id="36" name="Graphic 35" descr="House with solid fill">
            <a:extLst>
              <a:ext uri="{FF2B5EF4-FFF2-40B4-BE49-F238E27FC236}">
                <a16:creationId xmlns:a16="http://schemas.microsoft.com/office/drawing/2014/main" id="{76E9A973-6F56-BA5B-EB93-321CCC490A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2266">
            <a:off x="8900515" y="2117429"/>
            <a:ext cx="914400" cy="914400"/>
          </a:xfrm>
          <a:prstGeom prst="rect">
            <a:avLst/>
          </a:prstGeom>
        </p:spPr>
      </p:pic>
      <p:pic>
        <p:nvPicPr>
          <p:cNvPr id="42" name="Graphic 41" descr="Computer with solid fill">
            <a:extLst>
              <a:ext uri="{FF2B5EF4-FFF2-40B4-BE49-F238E27FC236}">
                <a16:creationId xmlns:a16="http://schemas.microsoft.com/office/drawing/2014/main" id="{3D3F4D38-48A2-4F1B-E422-C92BDBEE4A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893478">
            <a:off x="3258855" y="782892"/>
            <a:ext cx="914400" cy="91440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615EE6AA-4719-6982-FFC9-23F2427EFF83}"/>
              </a:ext>
            </a:extLst>
          </p:cNvPr>
          <p:cNvGrpSpPr/>
          <p:nvPr/>
        </p:nvGrpSpPr>
        <p:grpSpPr>
          <a:xfrm>
            <a:off x="4957596" y="7600691"/>
            <a:ext cx="2276805" cy="2457045"/>
            <a:chOff x="8877794" y="2938529"/>
            <a:chExt cx="1323440" cy="1428208"/>
          </a:xfrm>
        </p:grpSpPr>
        <p:pic>
          <p:nvPicPr>
            <p:cNvPr id="50" name="Graphic 49" descr="Palette with solid fill">
              <a:extLst>
                <a:ext uri="{FF2B5EF4-FFF2-40B4-BE49-F238E27FC236}">
                  <a16:creationId xmlns:a16="http://schemas.microsoft.com/office/drawing/2014/main" id="{F481B6A2-6B69-3FDA-F64D-D2B5B5AB9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877795" y="2938529"/>
              <a:ext cx="1323439" cy="1323439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F50F5D9-B7D1-45C2-6968-EEF7D019F060}"/>
                </a:ext>
              </a:extLst>
            </p:cNvPr>
            <p:cNvSpPr txBox="1"/>
            <p:nvPr/>
          </p:nvSpPr>
          <p:spPr>
            <a:xfrm>
              <a:off x="8877794" y="4062605"/>
              <a:ext cx="1323439" cy="3041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Arts</a:t>
              </a:r>
            </a:p>
          </p:txBody>
        </p:sp>
      </p:grpSp>
      <p:pic>
        <p:nvPicPr>
          <p:cNvPr id="52" name="Graphic 51" descr="Easel with solid fill">
            <a:extLst>
              <a:ext uri="{FF2B5EF4-FFF2-40B4-BE49-F238E27FC236}">
                <a16:creationId xmlns:a16="http://schemas.microsoft.com/office/drawing/2014/main" id="{BC3DB79F-A591-9193-05E4-80337B80A6D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0814288">
            <a:off x="5661269" y="7154216"/>
            <a:ext cx="914400" cy="914400"/>
          </a:xfrm>
          <a:prstGeom prst="rect">
            <a:avLst/>
          </a:prstGeom>
        </p:spPr>
      </p:pic>
      <p:pic>
        <p:nvPicPr>
          <p:cNvPr id="53" name="Graphic 52" descr="Internet with solid fill">
            <a:extLst>
              <a:ext uri="{FF2B5EF4-FFF2-40B4-BE49-F238E27FC236}">
                <a16:creationId xmlns:a16="http://schemas.microsoft.com/office/drawing/2014/main" id="{540ED0B6-5776-75B6-5E06-935746EBAD8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456227">
            <a:off x="5661269" y="7154216"/>
            <a:ext cx="914400" cy="914400"/>
          </a:xfrm>
          <a:prstGeom prst="rect">
            <a:avLst/>
          </a:prstGeom>
        </p:spPr>
      </p:pic>
      <p:pic>
        <p:nvPicPr>
          <p:cNvPr id="54" name="Graphic 53" descr="Large paint brush with solid fill">
            <a:extLst>
              <a:ext uri="{FF2B5EF4-FFF2-40B4-BE49-F238E27FC236}">
                <a16:creationId xmlns:a16="http://schemas.microsoft.com/office/drawing/2014/main" id="{3DD74B00-C088-D8B3-BA4D-FA01ABCB1EC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61269" y="7154216"/>
            <a:ext cx="914400" cy="914400"/>
          </a:xfrm>
          <a:prstGeom prst="rect">
            <a:avLst/>
          </a:prstGeom>
        </p:spPr>
      </p:pic>
      <p:pic>
        <p:nvPicPr>
          <p:cNvPr id="55" name="Graphic 54" descr="Playbook with solid fill">
            <a:extLst>
              <a:ext uri="{FF2B5EF4-FFF2-40B4-BE49-F238E27FC236}">
                <a16:creationId xmlns:a16="http://schemas.microsoft.com/office/drawing/2014/main" id="{7620C299-2661-1C0A-87C3-B3632B7FC56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453937">
            <a:off x="5661269" y="7154216"/>
            <a:ext cx="914400" cy="91440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ACE55D4B-0887-4E47-A1C9-C68D6D29AFF3}"/>
              </a:ext>
            </a:extLst>
          </p:cNvPr>
          <p:cNvGrpSpPr/>
          <p:nvPr/>
        </p:nvGrpSpPr>
        <p:grpSpPr>
          <a:xfrm>
            <a:off x="5264268" y="7353705"/>
            <a:ext cx="1323439" cy="1521522"/>
            <a:chOff x="1990766" y="2937249"/>
            <a:chExt cx="1323439" cy="1521522"/>
          </a:xfrm>
        </p:grpSpPr>
        <p:pic>
          <p:nvPicPr>
            <p:cNvPr id="58" name="Graphic 57" descr="Forest scene with solid fill">
              <a:extLst>
                <a:ext uri="{FF2B5EF4-FFF2-40B4-BE49-F238E27FC236}">
                  <a16:creationId xmlns:a16="http://schemas.microsoft.com/office/drawing/2014/main" id="{98890181-3706-01B5-0736-2618B8371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990766" y="2937249"/>
              <a:ext cx="1323439" cy="1323439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7D94148-0E88-BB7A-201C-D43D5609559A}"/>
                </a:ext>
              </a:extLst>
            </p:cNvPr>
            <p:cNvSpPr txBox="1"/>
            <p:nvPr/>
          </p:nvSpPr>
          <p:spPr>
            <a:xfrm>
              <a:off x="1990766" y="4089439"/>
              <a:ext cx="132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Nature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F2E3DE8-43FF-8B7D-6D2A-C41EFB654E03}"/>
              </a:ext>
            </a:extLst>
          </p:cNvPr>
          <p:cNvGrpSpPr/>
          <p:nvPr/>
        </p:nvGrpSpPr>
        <p:grpSpPr>
          <a:xfrm>
            <a:off x="4420298" y="1240104"/>
            <a:ext cx="3396342" cy="2821885"/>
            <a:chOff x="5223424" y="2937249"/>
            <a:chExt cx="1745152" cy="1397979"/>
          </a:xfrm>
        </p:grpSpPr>
        <p:pic>
          <p:nvPicPr>
            <p:cNvPr id="3" name="Graphic 2" descr="City with solid fill">
              <a:extLst>
                <a:ext uri="{FF2B5EF4-FFF2-40B4-BE49-F238E27FC236}">
                  <a16:creationId xmlns:a16="http://schemas.microsoft.com/office/drawing/2014/main" id="{348ED759-A13C-A587-D2B8-9FCD9BC61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5434280" y="2937249"/>
              <a:ext cx="1323439" cy="132343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F891B07-B55C-2B1F-AE90-0D2C790CCF07}"/>
                </a:ext>
              </a:extLst>
            </p:cNvPr>
            <p:cNvSpPr txBox="1"/>
            <p:nvPr/>
          </p:nvSpPr>
          <p:spPr>
            <a:xfrm>
              <a:off x="5223424" y="4076022"/>
              <a:ext cx="1745152" cy="259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Architecture </a:t>
              </a:r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A94612-A2F2-2FD3-A5A4-55F774CE3797}"/>
              </a:ext>
            </a:extLst>
          </p:cNvPr>
          <p:cNvSpPr/>
          <p:nvPr/>
        </p:nvSpPr>
        <p:spPr>
          <a:xfrm>
            <a:off x="423824" y="584560"/>
            <a:ext cx="2337387" cy="1574331"/>
          </a:xfrm>
          <a:prstGeom prst="roundRect">
            <a:avLst>
              <a:gd name="adj" fmla="val 50000"/>
            </a:avLst>
          </a:prstGeom>
          <a:blipFill>
            <a:blip r:embed="rId2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FECF50-2A36-0AFD-3D2D-AEF4FEC9B0D7}"/>
              </a:ext>
            </a:extLst>
          </p:cNvPr>
          <p:cNvSpPr/>
          <p:nvPr/>
        </p:nvSpPr>
        <p:spPr>
          <a:xfrm>
            <a:off x="9554214" y="2783802"/>
            <a:ext cx="2337387" cy="1574331"/>
          </a:xfrm>
          <a:prstGeom prst="roundRect">
            <a:avLst>
              <a:gd name="adj" fmla="val 50000"/>
            </a:avLst>
          </a:prstGeom>
          <a:blipFill>
            <a:blip r:embed="rId2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49F529-5844-F73A-DEF7-B5FD222195AE}"/>
              </a:ext>
            </a:extLst>
          </p:cNvPr>
          <p:cNvSpPr txBox="1"/>
          <p:nvPr/>
        </p:nvSpPr>
        <p:spPr>
          <a:xfrm>
            <a:off x="1940762" y="7404752"/>
            <a:ext cx="86764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 </a:t>
            </a:r>
            <a:r>
              <a:rPr lang="en-IN" b="1" i="0" u="sng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Leonardo da Vinci: </a:t>
            </a:r>
            <a:r>
              <a:rPr lang="en-IN" sz="18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“</a:t>
            </a:r>
            <a:r>
              <a:rPr lang="en-US" sz="1800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louvere</a:t>
            </a:r>
            <a:r>
              <a:rPr lang="en-US" sz="18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 </a:t>
            </a:r>
            <a:r>
              <a:rPr lang="en-US" sz="1800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paris</a:t>
            </a:r>
            <a:r>
              <a:rPr lang="en-IN" sz="18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," and "Mona Lisa" use golden rectangles for balance.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Logo Design:</a:t>
            </a:r>
            <a:r>
              <a:rPr lang="en-IN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 </a:t>
            </a:r>
            <a:r>
              <a:rPr lang="en-IN" sz="18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Brands like Google had used golden rectangles in their logos.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u="sng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Photography: </a:t>
            </a:r>
            <a:r>
              <a:rPr lang="en-IN" sz="1800" b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The Golden spiral is </a:t>
            </a:r>
            <a:r>
              <a:rPr lang="en-US" sz="1800" dirty="0">
                <a:solidFill>
                  <a:schemeClr val="accent4">
                    <a:lumMod val="50000"/>
                  </a:schemeClr>
                </a:solidFill>
                <a:latin typeface="Bahnschrift SemiBold" panose="020B0502040204020203" pitchFamily="34" charset="0"/>
              </a:rPr>
              <a:t>fundamental principle used in professional photography composition to create naturally balanced and aesthetically pleasing </a:t>
            </a:r>
          </a:p>
          <a:p>
            <a:pPr algn="l"/>
            <a:r>
              <a:rPr lang="en-US" sz="1800" dirty="0">
                <a:solidFill>
                  <a:schemeClr val="accent4">
                    <a:lumMod val="50000"/>
                  </a:schemeClr>
                </a:solidFill>
                <a:latin typeface="Bahnschrift SemiBold" panose="020B0502040204020203" pitchFamily="34" charset="0"/>
              </a:rPr>
              <a:t>images.</a:t>
            </a:r>
            <a:endParaRPr lang="en-IN" sz="1800" b="1" dirty="0">
              <a:solidFill>
                <a:schemeClr val="accent4">
                  <a:lumMod val="50000"/>
                </a:schemeClr>
              </a:solidFill>
              <a:effectLst/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58A22A-77A0-F029-254B-9F6578E68A56}"/>
              </a:ext>
            </a:extLst>
          </p:cNvPr>
          <p:cNvSpPr/>
          <p:nvPr/>
        </p:nvSpPr>
        <p:spPr>
          <a:xfrm>
            <a:off x="12460484" y="4358133"/>
            <a:ext cx="2256555" cy="1519887"/>
          </a:xfrm>
          <a:prstGeom prst="roundRect">
            <a:avLst>
              <a:gd name="adj" fmla="val 9433"/>
            </a:avLst>
          </a:prstGeom>
          <a:blipFill>
            <a:blip r:embed="rId26"/>
            <a:stretch>
              <a:fillRect l="-9852" t="1465" r="-732" b="-1204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94385A-F455-A904-6714-5A0178156804}"/>
              </a:ext>
            </a:extLst>
          </p:cNvPr>
          <p:cNvSpPr/>
          <p:nvPr/>
        </p:nvSpPr>
        <p:spPr>
          <a:xfrm>
            <a:off x="-1011602" y="-22693556"/>
            <a:ext cx="13230503" cy="1846349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dist="127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C7667E-E06A-40F5-B992-7D1B28CBAA15}"/>
              </a:ext>
            </a:extLst>
          </p:cNvPr>
          <p:cNvSpPr txBox="1"/>
          <p:nvPr/>
        </p:nvSpPr>
        <p:spPr>
          <a:xfrm>
            <a:off x="2746667" y="-1400802"/>
            <a:ext cx="64008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cs typeface="Palanquin Dark" panose="020B0804020203020204" pitchFamily="34" charset="0"/>
              </a:rPr>
              <a:t>Where the world used The Golden Rectangle?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Bahnschrift SemiBold" panose="020B0502040204020203" pitchFamily="34" charset="0"/>
              <a:cs typeface="Palanquin Dark" panose="020B0804020203020204" pitchFamily="34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B3E3CFF-CC0E-58D1-3E4E-0E429484D863}"/>
              </a:ext>
            </a:extLst>
          </p:cNvPr>
          <p:cNvGrpSpPr/>
          <p:nvPr/>
        </p:nvGrpSpPr>
        <p:grpSpPr>
          <a:xfrm>
            <a:off x="5018912" y="1383630"/>
            <a:ext cx="2276805" cy="2457045"/>
            <a:chOff x="8877794" y="2938529"/>
            <a:chExt cx="1323440" cy="1428208"/>
          </a:xfrm>
        </p:grpSpPr>
        <p:pic>
          <p:nvPicPr>
            <p:cNvPr id="35" name="Graphic 34" descr="Palette with solid fill">
              <a:extLst>
                <a:ext uri="{FF2B5EF4-FFF2-40B4-BE49-F238E27FC236}">
                  <a16:creationId xmlns:a16="http://schemas.microsoft.com/office/drawing/2014/main" id="{D81ECED1-6B50-5087-EF16-0F8BAF755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77795" y="2938529"/>
              <a:ext cx="1323439" cy="1323439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36D5154-43AB-5357-653B-DC06EF2F94AA}"/>
                </a:ext>
              </a:extLst>
            </p:cNvPr>
            <p:cNvSpPr txBox="1"/>
            <p:nvPr/>
          </p:nvSpPr>
          <p:spPr>
            <a:xfrm>
              <a:off x="8877794" y="4062605"/>
              <a:ext cx="1323439" cy="3041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Arts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725C9A8-D061-1265-8FF2-9129149AEF28}"/>
              </a:ext>
            </a:extLst>
          </p:cNvPr>
          <p:cNvSpPr txBox="1"/>
          <p:nvPr/>
        </p:nvSpPr>
        <p:spPr>
          <a:xfrm>
            <a:off x="2002081" y="4187439"/>
            <a:ext cx="831046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 </a:t>
            </a:r>
            <a:r>
              <a:rPr lang="en-IN" b="1" i="0" u="sng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Leonardo da Vinci: </a:t>
            </a:r>
            <a:r>
              <a:rPr lang="en-IN" sz="16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“</a:t>
            </a:r>
            <a:r>
              <a:rPr lang="en-US" sz="1600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louvere</a:t>
            </a:r>
            <a:r>
              <a:rPr lang="en-US" sz="16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 </a:t>
            </a:r>
            <a:r>
              <a:rPr lang="en-US" sz="1600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paris</a:t>
            </a:r>
            <a:r>
              <a:rPr lang="en-IN" sz="16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," and "Mona Lisa" use golden rectangles for balance.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Logo Design:</a:t>
            </a:r>
            <a:r>
              <a:rPr lang="en-IN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 </a:t>
            </a:r>
            <a:r>
              <a:rPr lang="en-IN" sz="16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Brands like Google had used golden rectangles in their logos.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u="sng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Photography: </a:t>
            </a: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The Golden spiral is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fundamental principle used in professional photography composition to create naturally balanced and aesthetically pleasing </a:t>
            </a:r>
          </a:p>
          <a:p>
            <a:pPr algn="l"/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images.</a:t>
            </a:r>
            <a:endParaRPr lang="en-IN" sz="1600" b="1" dirty="0">
              <a:solidFill>
                <a:schemeClr val="accent1">
                  <a:lumMod val="75000"/>
                </a:schemeClr>
              </a:solidFill>
              <a:effectLst/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21" name="Graphic 20" descr="Building with solid fill">
            <a:extLst>
              <a:ext uri="{FF2B5EF4-FFF2-40B4-BE49-F238E27FC236}">
                <a16:creationId xmlns:a16="http://schemas.microsoft.com/office/drawing/2014/main" id="{D4D6D89B-1D73-51FB-00AF-B5D9238011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501519">
            <a:off x="5019654" y="-5245410"/>
            <a:ext cx="1868911" cy="1868911"/>
          </a:xfrm>
          <a:prstGeom prst="rect">
            <a:avLst/>
          </a:prstGeom>
        </p:spPr>
      </p:pic>
      <p:pic>
        <p:nvPicPr>
          <p:cNvPr id="22" name="Graphic 21" descr="Tools with solid fill">
            <a:extLst>
              <a:ext uri="{FF2B5EF4-FFF2-40B4-BE49-F238E27FC236}">
                <a16:creationId xmlns:a16="http://schemas.microsoft.com/office/drawing/2014/main" id="{3653337B-69E6-9C3B-2CBA-2B34EEB75E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224562">
            <a:off x="-7245267" y="-4980217"/>
            <a:ext cx="1868911" cy="1868911"/>
          </a:xfrm>
          <a:prstGeom prst="rect">
            <a:avLst/>
          </a:prstGeom>
        </p:spPr>
      </p:pic>
      <p:pic>
        <p:nvPicPr>
          <p:cNvPr id="25" name="Graphic 24" descr="House with solid fill">
            <a:extLst>
              <a:ext uri="{FF2B5EF4-FFF2-40B4-BE49-F238E27FC236}">
                <a16:creationId xmlns:a16="http://schemas.microsoft.com/office/drawing/2014/main" id="{78DFE248-769C-35A0-6E36-9B2ADD8525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1217174">
            <a:off x="15932436" y="-5001349"/>
            <a:ext cx="1868911" cy="1868911"/>
          </a:xfrm>
          <a:prstGeom prst="rect">
            <a:avLst/>
          </a:prstGeom>
        </p:spPr>
      </p:pic>
      <p:pic>
        <p:nvPicPr>
          <p:cNvPr id="26" name="Graphic 25" descr="Car with solid fill">
            <a:extLst>
              <a:ext uri="{FF2B5EF4-FFF2-40B4-BE49-F238E27FC236}">
                <a16:creationId xmlns:a16="http://schemas.microsoft.com/office/drawing/2014/main" id="{52857404-051F-3289-FF72-34DB6B6EB6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79129">
            <a:off x="16693293" y="-6225789"/>
            <a:ext cx="1868911" cy="1868911"/>
          </a:xfrm>
          <a:prstGeom prst="rect">
            <a:avLst/>
          </a:prstGeom>
        </p:spPr>
      </p:pic>
      <p:pic>
        <p:nvPicPr>
          <p:cNvPr id="27" name="Graphic 26" descr="Computer with solid fill">
            <a:extLst>
              <a:ext uri="{FF2B5EF4-FFF2-40B4-BE49-F238E27FC236}">
                <a16:creationId xmlns:a16="http://schemas.microsoft.com/office/drawing/2014/main" id="{DE874DB9-1CF3-4968-C369-3DB626C455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9968386">
            <a:off x="-7230470" y="-6554750"/>
            <a:ext cx="1868911" cy="1868911"/>
          </a:xfrm>
          <a:prstGeom prst="rect">
            <a:avLst/>
          </a:prstGeom>
        </p:spPr>
      </p:pic>
      <p:pic>
        <p:nvPicPr>
          <p:cNvPr id="34" name="Graphic 33" descr="Easel with solid fill">
            <a:extLst>
              <a:ext uri="{FF2B5EF4-FFF2-40B4-BE49-F238E27FC236}">
                <a16:creationId xmlns:a16="http://schemas.microsoft.com/office/drawing/2014/main" id="{CB5887E0-4E16-9C82-9E53-7CBBD424AAE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814288">
            <a:off x="3314531" y="656589"/>
            <a:ext cx="914400" cy="914400"/>
          </a:xfrm>
          <a:prstGeom prst="rect">
            <a:avLst/>
          </a:prstGeom>
        </p:spPr>
      </p:pic>
      <p:pic>
        <p:nvPicPr>
          <p:cNvPr id="38" name="Graphic 37" descr="Internet with solid fill">
            <a:extLst>
              <a:ext uri="{FF2B5EF4-FFF2-40B4-BE49-F238E27FC236}">
                <a16:creationId xmlns:a16="http://schemas.microsoft.com/office/drawing/2014/main" id="{F741DEF6-C391-4D82-9D12-2E89DABC444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20456227">
            <a:off x="2676051" y="1990187"/>
            <a:ext cx="914400" cy="914400"/>
          </a:xfrm>
          <a:prstGeom prst="rect">
            <a:avLst/>
          </a:prstGeom>
        </p:spPr>
      </p:pic>
      <p:pic>
        <p:nvPicPr>
          <p:cNvPr id="40" name="Graphic 39" descr="Large paint brush with solid fill">
            <a:extLst>
              <a:ext uri="{FF2B5EF4-FFF2-40B4-BE49-F238E27FC236}">
                <a16:creationId xmlns:a16="http://schemas.microsoft.com/office/drawing/2014/main" id="{485E76FA-470C-EB03-7A12-D17CEC552ED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536801" y="624037"/>
            <a:ext cx="914400" cy="914400"/>
          </a:xfrm>
          <a:prstGeom prst="rect">
            <a:avLst/>
          </a:prstGeom>
        </p:spPr>
      </p:pic>
      <p:pic>
        <p:nvPicPr>
          <p:cNvPr id="49" name="Graphic 48" descr="Playbook with solid fill">
            <a:extLst>
              <a:ext uri="{FF2B5EF4-FFF2-40B4-BE49-F238E27FC236}">
                <a16:creationId xmlns:a16="http://schemas.microsoft.com/office/drawing/2014/main" id="{A13BBF57-BEB6-B7D1-CBED-3568BA79750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1453937">
            <a:off x="8747295" y="1899741"/>
            <a:ext cx="914400" cy="914400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08B4D20A-01FF-A8ED-FB52-30C194B30E1E}"/>
              </a:ext>
            </a:extLst>
          </p:cNvPr>
          <p:cNvGrpSpPr/>
          <p:nvPr/>
        </p:nvGrpSpPr>
        <p:grpSpPr>
          <a:xfrm>
            <a:off x="4455519" y="-8385615"/>
            <a:ext cx="3403588" cy="2933707"/>
            <a:chOff x="5223424" y="2937249"/>
            <a:chExt cx="1745152" cy="1385955"/>
          </a:xfrm>
        </p:grpSpPr>
        <p:pic>
          <p:nvPicPr>
            <p:cNvPr id="51" name="Graphic 50" descr="City with solid fill">
              <a:extLst>
                <a:ext uri="{FF2B5EF4-FFF2-40B4-BE49-F238E27FC236}">
                  <a16:creationId xmlns:a16="http://schemas.microsoft.com/office/drawing/2014/main" id="{E31FF647-E7B3-B52E-3241-BCAB0B3C1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5434280" y="2937249"/>
              <a:ext cx="1323439" cy="1323439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8A15A8C-4598-A6AE-E9C9-DBB4B99B3C7C}"/>
                </a:ext>
              </a:extLst>
            </p:cNvPr>
            <p:cNvSpPr txBox="1"/>
            <p:nvPr/>
          </p:nvSpPr>
          <p:spPr>
            <a:xfrm>
              <a:off x="5223424" y="4076022"/>
              <a:ext cx="1745152" cy="247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Architecture 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64B8D70D-54EF-DF9B-405B-2CCFE0AE1AA5}"/>
              </a:ext>
            </a:extLst>
          </p:cNvPr>
          <p:cNvSpPr txBox="1"/>
          <p:nvPr/>
        </p:nvSpPr>
        <p:spPr>
          <a:xfrm>
            <a:off x="1940766" y="7925236"/>
            <a:ext cx="83104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 Nautilus and other shells: </a:t>
            </a:r>
            <a:r>
              <a:rPr lang="en-IN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Spirals and growth reflect golden rectangle proportions.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 Sunflower seeds, pinecones, flower petals: </a:t>
            </a:r>
            <a:r>
              <a:rPr lang="en-IN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Spiral and arrangement patterns follow golden rectangle and </a:t>
            </a:r>
            <a:r>
              <a:rPr lang="en-US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Fibonacci Sequence</a:t>
            </a:r>
            <a:endParaRPr lang="en-IN" sz="1600" b="1" i="0" dirty="0">
              <a:solidFill>
                <a:schemeClr val="accent1">
                  <a:lumMod val="50000"/>
                </a:schemeClr>
              </a:solidFill>
              <a:effectLst/>
              <a:latin typeface="Bahnschrift SemiBold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 Galaxies: </a:t>
            </a:r>
            <a:r>
              <a:rPr lang="en-IN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Spiral arms approximate a logarithmic spiral related to the golden ratio.</a:t>
            </a:r>
            <a:endParaRPr lang="en-IN" sz="1600" b="1" dirty="0">
              <a:solidFill>
                <a:schemeClr val="accent1">
                  <a:lumMod val="50000"/>
                </a:schemeClr>
              </a:solidFill>
              <a:effectLst/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55" name="Graphic 54" descr="Apple with solid fill">
            <a:extLst>
              <a:ext uri="{FF2B5EF4-FFF2-40B4-BE49-F238E27FC236}">
                <a16:creationId xmlns:a16="http://schemas.microsoft.com/office/drawing/2014/main" id="{902C4C6E-A9E1-3040-34B9-B986EAE9AF2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5122769">
            <a:off x="5604020" y="7177841"/>
            <a:ext cx="983959" cy="983959"/>
          </a:xfrm>
          <a:prstGeom prst="rect">
            <a:avLst/>
          </a:prstGeom>
        </p:spPr>
      </p:pic>
      <p:pic>
        <p:nvPicPr>
          <p:cNvPr id="56" name="Graphic 55" descr="Earth globe: Africa and Europe with solid fill">
            <a:extLst>
              <a:ext uri="{FF2B5EF4-FFF2-40B4-BE49-F238E27FC236}">
                <a16:creationId xmlns:a16="http://schemas.microsoft.com/office/drawing/2014/main" id="{B4B6623B-79C5-EB70-8148-E1CF24ABEEF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990451">
            <a:off x="5604020" y="7177841"/>
            <a:ext cx="983959" cy="983959"/>
          </a:xfrm>
          <a:prstGeom prst="rect">
            <a:avLst/>
          </a:prstGeom>
        </p:spPr>
      </p:pic>
      <p:pic>
        <p:nvPicPr>
          <p:cNvPr id="57" name="Graphic 56" descr="Flower without stem with solid fill">
            <a:extLst>
              <a:ext uri="{FF2B5EF4-FFF2-40B4-BE49-F238E27FC236}">
                <a16:creationId xmlns:a16="http://schemas.microsoft.com/office/drawing/2014/main" id="{D6266741-73F4-1EDA-0C6B-7BF302A5125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837920">
            <a:off x="5604020" y="7177841"/>
            <a:ext cx="983959" cy="983959"/>
          </a:xfrm>
          <a:prstGeom prst="rect">
            <a:avLst/>
          </a:prstGeom>
        </p:spPr>
      </p:pic>
      <p:pic>
        <p:nvPicPr>
          <p:cNvPr id="58" name="Graphic 57" descr="Leaf with solid fill">
            <a:extLst>
              <a:ext uri="{FF2B5EF4-FFF2-40B4-BE49-F238E27FC236}">
                <a16:creationId xmlns:a16="http://schemas.microsoft.com/office/drawing/2014/main" id="{E2E48615-964F-E284-02C2-70D27490B56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1014578">
            <a:off x="5604020" y="7177841"/>
            <a:ext cx="983959" cy="983959"/>
          </a:xfrm>
          <a:prstGeom prst="rect">
            <a:avLst/>
          </a:prstGeom>
        </p:spPr>
      </p:pic>
      <p:pic>
        <p:nvPicPr>
          <p:cNvPr id="59" name="Graphic 58" descr="Plant with solid fill">
            <a:extLst>
              <a:ext uri="{FF2B5EF4-FFF2-40B4-BE49-F238E27FC236}">
                <a16:creationId xmlns:a16="http://schemas.microsoft.com/office/drawing/2014/main" id="{5A3C0359-727C-C4A5-0EC2-48E5AC518381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3650698">
            <a:off x="5604020" y="7177841"/>
            <a:ext cx="983959" cy="983959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CAF53631-26A6-FAB3-139A-22FDDCF8137C}"/>
              </a:ext>
            </a:extLst>
          </p:cNvPr>
          <p:cNvGrpSpPr/>
          <p:nvPr/>
        </p:nvGrpSpPr>
        <p:grpSpPr>
          <a:xfrm>
            <a:off x="4879333" y="6682509"/>
            <a:ext cx="2157145" cy="2730842"/>
            <a:chOff x="1990766" y="2937249"/>
            <a:chExt cx="1323439" cy="1675410"/>
          </a:xfrm>
        </p:grpSpPr>
        <p:pic>
          <p:nvPicPr>
            <p:cNvPr id="61" name="Graphic 60" descr="Forest scene with solid fill">
              <a:extLst>
                <a:ext uri="{FF2B5EF4-FFF2-40B4-BE49-F238E27FC236}">
                  <a16:creationId xmlns:a16="http://schemas.microsoft.com/office/drawing/2014/main" id="{E8F68069-AA78-FCB1-A090-F8F0572A9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990766" y="2937249"/>
              <a:ext cx="1323439" cy="1323439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4EC87B7-1625-40FC-E824-85CA2AF914D3}"/>
                </a:ext>
              </a:extLst>
            </p:cNvPr>
            <p:cNvSpPr txBox="1"/>
            <p:nvPr/>
          </p:nvSpPr>
          <p:spPr>
            <a:xfrm>
              <a:off x="1990766" y="4089439"/>
              <a:ext cx="13234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Nature</a:t>
              </a: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BA1962B-224E-2F71-1CFE-48394BF13269}"/>
              </a:ext>
            </a:extLst>
          </p:cNvPr>
          <p:cNvSpPr/>
          <p:nvPr/>
        </p:nvSpPr>
        <p:spPr>
          <a:xfrm>
            <a:off x="9759100" y="2150736"/>
            <a:ext cx="2337387" cy="1574331"/>
          </a:xfrm>
          <a:prstGeom prst="roundRect">
            <a:avLst>
              <a:gd name="adj" fmla="val 50000"/>
            </a:avLst>
          </a:prstGeom>
          <a:blipFill>
            <a:blip r:embed="rId36"/>
            <a:stretch>
              <a:fillRect l="-14120" t="-4422" r="3536" b="-616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EE2A4D-04BE-2065-3287-11E0C3DE778C}"/>
              </a:ext>
            </a:extLst>
          </p:cNvPr>
          <p:cNvSpPr/>
          <p:nvPr/>
        </p:nvSpPr>
        <p:spPr>
          <a:xfrm>
            <a:off x="9579429" y="4252072"/>
            <a:ext cx="2517058" cy="1661993"/>
          </a:xfrm>
          <a:prstGeom prst="roundRect">
            <a:avLst>
              <a:gd name="adj" fmla="val 9433"/>
            </a:avLst>
          </a:prstGeom>
          <a:blipFill>
            <a:blip r:embed="rId37"/>
            <a:stretch>
              <a:fillRect l="290" t="-1192" r="571" b="6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662962-01CB-4C00-7D74-F38EBEC905BF}"/>
              </a:ext>
            </a:extLst>
          </p:cNvPr>
          <p:cNvSpPr/>
          <p:nvPr/>
        </p:nvSpPr>
        <p:spPr>
          <a:xfrm>
            <a:off x="182104" y="2630383"/>
            <a:ext cx="2552501" cy="1382388"/>
          </a:xfrm>
          <a:prstGeom prst="roundRect">
            <a:avLst>
              <a:gd name="adj" fmla="val 30220"/>
            </a:avLst>
          </a:prstGeom>
          <a:blipFill>
            <a:blip r:embed="rId38"/>
            <a:stretch>
              <a:fillRect l="-574" t="-1419" r="-153" b="-324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BF6B2B-F66B-0E2C-44F0-80933EAC6652}"/>
              </a:ext>
            </a:extLst>
          </p:cNvPr>
          <p:cNvSpPr txBox="1"/>
          <p:nvPr/>
        </p:nvSpPr>
        <p:spPr>
          <a:xfrm>
            <a:off x="1940765" y="-5475237"/>
            <a:ext cx="831046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eaLnBrk="1" latinLnBrk="0" hangingPunct="1"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  <a:cs typeface="Arial" panose="020B0604020202020204" pitchFamily="34" charset="0"/>
              </a:rPr>
              <a:t>Parthenon, Greece: </a:t>
            </a:r>
            <a:r>
              <a:rPr lang="en-IN" sz="1600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  <a:cs typeface="Arial" panose="020B0604020202020204" pitchFamily="34" charset="0"/>
              </a:rPr>
              <a:t>Facade and columns follow golden rectangles for harmonious design.</a:t>
            </a:r>
            <a:endParaRPr lang="en-IN" sz="1600" b="1" dirty="0">
              <a:solidFill>
                <a:schemeClr val="accent1">
                  <a:lumMod val="75000"/>
                </a:schemeClr>
              </a:solidFill>
              <a:effectLst/>
              <a:latin typeface="Bahnschrift SemiBold" panose="020B0502040204020203" pitchFamily="34" charset="0"/>
              <a:cs typeface="Arial" panose="020B0604020202020204" pitchFamily="34" charset="0"/>
            </a:endParaRPr>
          </a:p>
          <a:p>
            <a:pPr marL="285750" indent="-28575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  <a:cs typeface="Arial" panose="020B0604020202020204" pitchFamily="34" charset="0"/>
              </a:rPr>
              <a:t>Villa Stein, France: </a:t>
            </a:r>
            <a:r>
              <a:rPr lang="en-IN" sz="1600" b="1" i="0" kern="120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  <a:cs typeface="Arial" panose="020B0604020202020204" pitchFamily="34" charset="0"/>
              </a:rPr>
              <a:t>Le Corbusier used golden rectangles in layout and windows.</a:t>
            </a:r>
            <a:endParaRPr lang="en-IN" sz="1600" b="1" dirty="0">
              <a:solidFill>
                <a:schemeClr val="accent1">
                  <a:lumMod val="75000"/>
                </a:schemeClr>
              </a:solidFill>
              <a:effectLst/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377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94385A-F455-A904-6714-5A0178156804}"/>
              </a:ext>
            </a:extLst>
          </p:cNvPr>
          <p:cNvSpPr/>
          <p:nvPr/>
        </p:nvSpPr>
        <p:spPr>
          <a:xfrm>
            <a:off x="-457936" y="-20208772"/>
            <a:ext cx="13230503" cy="1846349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dist="127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C7667E-E06A-40F5-B992-7D1B28CBAA15}"/>
              </a:ext>
            </a:extLst>
          </p:cNvPr>
          <p:cNvSpPr txBox="1"/>
          <p:nvPr/>
        </p:nvSpPr>
        <p:spPr>
          <a:xfrm>
            <a:off x="2746667" y="-1400802"/>
            <a:ext cx="64008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cs typeface="Palanquin Dark" panose="020B0804020203020204" pitchFamily="34" charset="0"/>
              </a:rPr>
              <a:t>Where the world used The Golden Rectangle?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Bahnschrift SemiBold" panose="020B0502040204020203" pitchFamily="34" charset="0"/>
              <a:cs typeface="Palanquin Dark" panose="020B0804020203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4CC0EC-A862-0411-F7A4-B08CFA66E1B5}"/>
              </a:ext>
            </a:extLst>
          </p:cNvPr>
          <p:cNvGrpSpPr/>
          <p:nvPr/>
        </p:nvGrpSpPr>
        <p:grpSpPr>
          <a:xfrm>
            <a:off x="5017427" y="1430748"/>
            <a:ext cx="2157145" cy="2401237"/>
            <a:chOff x="1990766" y="2937249"/>
            <a:chExt cx="1323439" cy="1473193"/>
          </a:xfrm>
        </p:grpSpPr>
        <p:pic>
          <p:nvPicPr>
            <p:cNvPr id="41" name="Graphic 40" descr="Forest scene with solid fill">
              <a:extLst>
                <a:ext uri="{FF2B5EF4-FFF2-40B4-BE49-F238E27FC236}">
                  <a16:creationId xmlns:a16="http://schemas.microsoft.com/office/drawing/2014/main" id="{014601CA-21BE-1F2C-3762-4CFC419D7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90766" y="2937249"/>
              <a:ext cx="1323439" cy="1323439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6E58AE2-B585-06BC-C8EA-3E565F6B6E7F}"/>
                </a:ext>
              </a:extLst>
            </p:cNvPr>
            <p:cNvSpPr txBox="1"/>
            <p:nvPr/>
          </p:nvSpPr>
          <p:spPr>
            <a:xfrm>
              <a:off x="1990766" y="4089439"/>
              <a:ext cx="1323439" cy="321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Nature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725C9A8-D061-1265-8FF2-9129149AEF28}"/>
              </a:ext>
            </a:extLst>
          </p:cNvPr>
          <p:cNvSpPr txBox="1"/>
          <p:nvPr/>
        </p:nvSpPr>
        <p:spPr>
          <a:xfrm>
            <a:off x="2002081" y="4187439"/>
            <a:ext cx="83104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 </a:t>
            </a:r>
            <a:r>
              <a:rPr lang="en-IN" b="1" i="0" u="sng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Nautilus and other shells: </a:t>
            </a:r>
            <a:r>
              <a:rPr lang="en-IN" sz="16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Spirals and growth reflect golden rectangle proportions.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 </a:t>
            </a:r>
            <a:r>
              <a:rPr lang="en-IN" b="1" i="0" u="sng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Sunflower seeds, pinecones, flower petals: </a:t>
            </a:r>
            <a:r>
              <a:rPr lang="en-IN" sz="16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Spiral and arrangement patterns follow golden rectangle and </a:t>
            </a:r>
            <a:r>
              <a:rPr lang="en-US" sz="16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Fibonacci Sequence</a:t>
            </a:r>
            <a:endParaRPr lang="en-IN" sz="1600" b="1" i="0" dirty="0">
              <a:solidFill>
                <a:schemeClr val="accent1">
                  <a:lumMod val="75000"/>
                </a:schemeClr>
              </a:solidFill>
              <a:effectLst/>
              <a:latin typeface="Bahnschrift SemiBold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 Galaxies: </a:t>
            </a:r>
            <a:r>
              <a:rPr lang="en-IN" sz="16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Spiral arms approximate a logarithmic spiral related to the golden ratio.</a:t>
            </a:r>
            <a:endParaRPr lang="en-IN" sz="1600" b="1" dirty="0">
              <a:solidFill>
                <a:schemeClr val="accent1">
                  <a:lumMod val="75000"/>
                </a:schemeClr>
              </a:solidFill>
              <a:effectLst/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3" descr="Easel with solid fill">
            <a:extLst>
              <a:ext uri="{FF2B5EF4-FFF2-40B4-BE49-F238E27FC236}">
                <a16:creationId xmlns:a16="http://schemas.microsoft.com/office/drawing/2014/main" id="{5442B55C-0A77-0BE0-D077-638B418F8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726962">
            <a:off x="-436116" y="-3964691"/>
            <a:ext cx="2160435" cy="2160435"/>
          </a:xfrm>
          <a:prstGeom prst="rect">
            <a:avLst/>
          </a:prstGeom>
        </p:spPr>
      </p:pic>
      <p:pic>
        <p:nvPicPr>
          <p:cNvPr id="21" name="Graphic 20" descr="Internet with solid fill">
            <a:extLst>
              <a:ext uri="{FF2B5EF4-FFF2-40B4-BE49-F238E27FC236}">
                <a16:creationId xmlns:a16="http://schemas.microsoft.com/office/drawing/2014/main" id="{947EF512-1BE9-D221-FEE0-635D5AA636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368901">
            <a:off x="-3051624" y="-1900782"/>
            <a:ext cx="2160435" cy="2160435"/>
          </a:xfrm>
          <a:prstGeom prst="rect">
            <a:avLst/>
          </a:prstGeom>
        </p:spPr>
      </p:pic>
      <p:pic>
        <p:nvPicPr>
          <p:cNvPr id="22" name="Graphic 21" descr="Large paint brush with solid fill">
            <a:extLst>
              <a:ext uri="{FF2B5EF4-FFF2-40B4-BE49-F238E27FC236}">
                <a16:creationId xmlns:a16="http://schemas.microsoft.com/office/drawing/2014/main" id="{7C3A1C86-CFE0-8DAB-B45A-3819DADCA7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512674">
            <a:off x="12248297" y="-3804206"/>
            <a:ext cx="2160435" cy="2160435"/>
          </a:xfrm>
          <a:prstGeom prst="rect">
            <a:avLst/>
          </a:prstGeom>
        </p:spPr>
      </p:pic>
      <p:pic>
        <p:nvPicPr>
          <p:cNvPr id="25" name="Graphic 24" descr="Playbook with solid fill">
            <a:extLst>
              <a:ext uri="{FF2B5EF4-FFF2-40B4-BE49-F238E27FC236}">
                <a16:creationId xmlns:a16="http://schemas.microsoft.com/office/drawing/2014/main" id="{E5370EF0-E777-1CF1-503E-482C50DCAC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366611">
            <a:off x="13437357" y="-1497623"/>
            <a:ext cx="2160435" cy="2160435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0D7E52BF-4E5F-268A-7AAC-C9A2CBBBAD9A}"/>
              </a:ext>
            </a:extLst>
          </p:cNvPr>
          <p:cNvGrpSpPr/>
          <p:nvPr/>
        </p:nvGrpSpPr>
        <p:grpSpPr>
          <a:xfrm rot="1639267">
            <a:off x="4463397" y="-6842509"/>
            <a:ext cx="2967343" cy="3288225"/>
            <a:chOff x="8877794" y="2938529"/>
            <a:chExt cx="1323440" cy="1428208"/>
          </a:xfrm>
        </p:grpSpPr>
        <p:pic>
          <p:nvPicPr>
            <p:cNvPr id="27" name="Graphic 26" descr="Palette with solid fill">
              <a:extLst>
                <a:ext uri="{FF2B5EF4-FFF2-40B4-BE49-F238E27FC236}">
                  <a16:creationId xmlns:a16="http://schemas.microsoft.com/office/drawing/2014/main" id="{8F0B1E79-0947-F3D8-DE82-ACA2C5566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877795" y="2938529"/>
              <a:ext cx="1323439" cy="1323439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F47AA1-18B8-8D0E-5987-DF2949C8DFF1}"/>
                </a:ext>
              </a:extLst>
            </p:cNvPr>
            <p:cNvSpPr txBox="1"/>
            <p:nvPr/>
          </p:nvSpPr>
          <p:spPr>
            <a:xfrm>
              <a:off x="8877794" y="4062605"/>
              <a:ext cx="1323439" cy="3041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Arts</a:t>
              </a:r>
            </a:p>
          </p:txBody>
        </p:sp>
      </p:grpSp>
      <p:pic>
        <p:nvPicPr>
          <p:cNvPr id="38" name="Graphic 37" descr="Apple with solid fill">
            <a:extLst>
              <a:ext uri="{FF2B5EF4-FFF2-40B4-BE49-F238E27FC236}">
                <a16:creationId xmlns:a16="http://schemas.microsoft.com/office/drawing/2014/main" id="{320DAF0F-A8E1-66C6-C463-61101ABD99A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494638">
            <a:off x="7419438" y="1134632"/>
            <a:ext cx="983959" cy="983959"/>
          </a:xfrm>
          <a:prstGeom prst="rect">
            <a:avLst/>
          </a:prstGeom>
        </p:spPr>
      </p:pic>
      <p:pic>
        <p:nvPicPr>
          <p:cNvPr id="49" name="Graphic 48" descr="Flower without stem with solid fill">
            <a:extLst>
              <a:ext uri="{FF2B5EF4-FFF2-40B4-BE49-F238E27FC236}">
                <a16:creationId xmlns:a16="http://schemas.microsoft.com/office/drawing/2014/main" id="{5AD33926-DFAF-8B64-DE3F-14FC89EEE19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9809789">
            <a:off x="3938099" y="1072579"/>
            <a:ext cx="983959" cy="983959"/>
          </a:xfrm>
          <a:prstGeom prst="rect">
            <a:avLst/>
          </a:prstGeom>
        </p:spPr>
      </p:pic>
      <p:pic>
        <p:nvPicPr>
          <p:cNvPr id="51" name="Graphic 50" descr="Leaf with solid fill">
            <a:extLst>
              <a:ext uri="{FF2B5EF4-FFF2-40B4-BE49-F238E27FC236}">
                <a16:creationId xmlns:a16="http://schemas.microsoft.com/office/drawing/2014/main" id="{7D4008EE-737A-32D2-D8A7-B6F18A694E2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9986447">
            <a:off x="3127295" y="2280453"/>
            <a:ext cx="983959" cy="983959"/>
          </a:xfrm>
          <a:prstGeom prst="rect">
            <a:avLst/>
          </a:prstGeom>
        </p:spPr>
      </p:pic>
      <p:pic>
        <p:nvPicPr>
          <p:cNvPr id="53" name="Graphic 52" descr="Plant with solid fill">
            <a:extLst>
              <a:ext uri="{FF2B5EF4-FFF2-40B4-BE49-F238E27FC236}">
                <a16:creationId xmlns:a16="http://schemas.microsoft.com/office/drawing/2014/main" id="{DDE883F2-D50C-BD48-ACD7-1409C34B86F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1022567">
            <a:off x="8070615" y="2247372"/>
            <a:ext cx="983959" cy="9839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C6A16D-8C48-0FDA-C7DC-C7BC740B8829}"/>
              </a:ext>
            </a:extLst>
          </p:cNvPr>
          <p:cNvSpPr txBox="1"/>
          <p:nvPr/>
        </p:nvSpPr>
        <p:spPr>
          <a:xfrm>
            <a:off x="1847191" y="-4018695"/>
            <a:ext cx="831046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 Leonardo da Vinci: </a:t>
            </a:r>
            <a:r>
              <a:rPr lang="en-IN" sz="16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“</a:t>
            </a:r>
            <a:r>
              <a:rPr lang="en-US" sz="1600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louvere</a:t>
            </a:r>
            <a:r>
              <a:rPr lang="en-US" sz="16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 </a:t>
            </a:r>
            <a:r>
              <a:rPr lang="en-US" sz="1600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paris</a:t>
            </a:r>
            <a:r>
              <a:rPr lang="en-IN" sz="16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," and "Mona Lisa" use golden rectangles for balance.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Logo Design: </a:t>
            </a:r>
            <a:r>
              <a:rPr lang="en-IN" sz="1600" b="1" i="0" dirty="0">
                <a:solidFill>
                  <a:schemeClr val="accent1">
                    <a:lumMod val="75000"/>
                  </a:schemeClr>
                </a:solidFill>
                <a:effectLst/>
                <a:latin typeface="Bahnschrift SemiBold" panose="020B0502040204020203" pitchFamily="34" charset="0"/>
              </a:rPr>
              <a:t>Brands like Google had used golden rectangles in their logos.</a:t>
            </a:r>
            <a:endParaRPr lang="en-IN" sz="1400" b="1" dirty="0">
              <a:solidFill>
                <a:schemeClr val="accent1">
                  <a:lumMod val="75000"/>
                </a:schemeClr>
              </a:solidFill>
              <a:effectLst/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085F94-8920-2126-E723-A5061ECA6FE2}"/>
              </a:ext>
            </a:extLst>
          </p:cNvPr>
          <p:cNvSpPr/>
          <p:nvPr/>
        </p:nvSpPr>
        <p:spPr>
          <a:xfrm>
            <a:off x="182104" y="1276350"/>
            <a:ext cx="2552501" cy="2736421"/>
          </a:xfrm>
          <a:prstGeom prst="roundRect">
            <a:avLst>
              <a:gd name="adj" fmla="val 30220"/>
            </a:avLst>
          </a:prstGeom>
          <a:blipFill>
            <a:blip r:embed="rId22"/>
            <a:stretch>
              <a:fillRect l="-574" t="-1419" r="-153" b="-324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F66E83-06ED-510A-9762-5D0F2D49C2DD}"/>
              </a:ext>
            </a:extLst>
          </p:cNvPr>
          <p:cNvSpPr/>
          <p:nvPr/>
        </p:nvSpPr>
        <p:spPr>
          <a:xfrm>
            <a:off x="9000063" y="2054397"/>
            <a:ext cx="3079502" cy="1999300"/>
          </a:xfrm>
          <a:prstGeom prst="roundRect">
            <a:avLst>
              <a:gd name="adj" fmla="val 6263"/>
            </a:avLst>
          </a:prstGeom>
          <a:blipFill>
            <a:blip r:embed="rId23"/>
            <a:stretch>
              <a:fillRect l="-574" t="-1419" r="-153" b="-324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DAA140-012C-0573-D9A7-2C3A4A160F59}"/>
              </a:ext>
            </a:extLst>
          </p:cNvPr>
          <p:cNvSpPr/>
          <p:nvPr/>
        </p:nvSpPr>
        <p:spPr>
          <a:xfrm>
            <a:off x="9575284" y="521507"/>
            <a:ext cx="2155095" cy="1399149"/>
          </a:xfrm>
          <a:prstGeom prst="roundRect">
            <a:avLst>
              <a:gd name="adj" fmla="val 50000"/>
            </a:avLst>
          </a:prstGeom>
          <a:blipFill>
            <a:blip r:embed="rId24"/>
            <a:stretch>
              <a:fillRect l="-574" t="-1419" r="-153" b="-324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91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94385A-F455-A904-6714-5A0178156804}"/>
              </a:ext>
            </a:extLst>
          </p:cNvPr>
          <p:cNvSpPr/>
          <p:nvPr/>
        </p:nvSpPr>
        <p:spPr>
          <a:xfrm>
            <a:off x="0" y="-22381331"/>
            <a:ext cx="12192000" cy="2225132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dist="127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51D277-25BC-DE3D-787B-6FC00413C853}"/>
              </a:ext>
            </a:extLst>
          </p:cNvPr>
          <p:cNvSpPr txBox="1"/>
          <p:nvPr/>
        </p:nvSpPr>
        <p:spPr>
          <a:xfrm>
            <a:off x="1833716" y="-3860548"/>
            <a:ext cx="85245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5B210D-9416-F5E2-169D-4C7E4837E050}"/>
              </a:ext>
            </a:extLst>
          </p:cNvPr>
          <p:cNvSpPr txBox="1"/>
          <p:nvPr/>
        </p:nvSpPr>
        <p:spPr>
          <a:xfrm>
            <a:off x="1940766" y="-5457575"/>
            <a:ext cx="83104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 Nautilus and other shells: </a:t>
            </a:r>
            <a:r>
              <a:rPr lang="en-IN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Spirals and growth reflect golden rectangle proportions.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 Sunflower seeds, pinecones, flower petals: </a:t>
            </a:r>
            <a:r>
              <a:rPr lang="en-IN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Spiral and arrangement patterns follow golden rectangle and </a:t>
            </a:r>
            <a:r>
              <a:rPr lang="en-US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Fibonacci Sequence</a:t>
            </a:r>
            <a:endParaRPr lang="en-IN" sz="1600" b="1" i="0" dirty="0">
              <a:solidFill>
                <a:schemeClr val="accent1">
                  <a:lumMod val="50000"/>
                </a:schemeClr>
              </a:solidFill>
              <a:effectLst/>
              <a:latin typeface="Bahnschrift SemiBold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 Galaxies: </a:t>
            </a:r>
            <a:r>
              <a:rPr lang="en-IN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Spiral arms approximate a logarithmic spiral related to the golden ratio.</a:t>
            </a:r>
            <a:endParaRPr lang="en-IN" sz="1600" b="1" dirty="0">
              <a:solidFill>
                <a:schemeClr val="accent1">
                  <a:lumMod val="50000"/>
                </a:schemeClr>
              </a:solidFill>
              <a:effectLst/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24CEDE1-B0AE-EE42-6D29-0CC048CB6CE8}"/>
              </a:ext>
            </a:extLst>
          </p:cNvPr>
          <p:cNvGrpSpPr/>
          <p:nvPr/>
        </p:nvGrpSpPr>
        <p:grpSpPr>
          <a:xfrm>
            <a:off x="3836327" y="-9670341"/>
            <a:ext cx="3897973" cy="4694991"/>
            <a:chOff x="1990766" y="2937249"/>
            <a:chExt cx="1323439" cy="1675410"/>
          </a:xfrm>
        </p:grpSpPr>
        <p:pic>
          <p:nvPicPr>
            <p:cNvPr id="25" name="Graphic 24" descr="Forest scene with solid fill">
              <a:extLst>
                <a:ext uri="{FF2B5EF4-FFF2-40B4-BE49-F238E27FC236}">
                  <a16:creationId xmlns:a16="http://schemas.microsoft.com/office/drawing/2014/main" id="{E6961EA1-43D1-C253-607C-7EBB27DA0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90766" y="2937249"/>
              <a:ext cx="1323439" cy="1323439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A446E4-1852-FBD2-CC09-509658A417F5}"/>
                </a:ext>
              </a:extLst>
            </p:cNvPr>
            <p:cNvSpPr txBox="1"/>
            <p:nvPr/>
          </p:nvSpPr>
          <p:spPr>
            <a:xfrm>
              <a:off x="1990766" y="4089439"/>
              <a:ext cx="13234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Nature</a:t>
              </a:r>
            </a:p>
          </p:txBody>
        </p:sp>
      </p:grpSp>
      <p:pic>
        <p:nvPicPr>
          <p:cNvPr id="27" name="Graphic 26" descr="Apple with solid fill">
            <a:extLst>
              <a:ext uri="{FF2B5EF4-FFF2-40B4-BE49-F238E27FC236}">
                <a16:creationId xmlns:a16="http://schemas.microsoft.com/office/drawing/2014/main" id="{C26DFF3E-6046-92A1-9524-521A93FD5B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494638">
            <a:off x="13312438" y="-2657209"/>
            <a:ext cx="3154508" cy="3154508"/>
          </a:xfrm>
          <a:prstGeom prst="rect">
            <a:avLst/>
          </a:prstGeom>
        </p:spPr>
      </p:pic>
      <p:pic>
        <p:nvPicPr>
          <p:cNvPr id="34" name="Graphic 33" descr="Flower without stem with solid fill">
            <a:extLst>
              <a:ext uri="{FF2B5EF4-FFF2-40B4-BE49-F238E27FC236}">
                <a16:creationId xmlns:a16="http://schemas.microsoft.com/office/drawing/2014/main" id="{F1097A46-3841-0E50-EA0F-486A59BB5B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809789">
            <a:off x="-3972002" y="-3730170"/>
            <a:ext cx="3154508" cy="3154508"/>
          </a:xfrm>
          <a:prstGeom prst="rect">
            <a:avLst/>
          </a:prstGeom>
        </p:spPr>
      </p:pic>
      <p:pic>
        <p:nvPicPr>
          <p:cNvPr id="36" name="Graphic 35" descr="Leaf with solid fill">
            <a:extLst>
              <a:ext uri="{FF2B5EF4-FFF2-40B4-BE49-F238E27FC236}">
                <a16:creationId xmlns:a16="http://schemas.microsoft.com/office/drawing/2014/main" id="{29BF9637-8C00-0E08-F164-FF7994668D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9986447">
            <a:off x="-4734789" y="1851746"/>
            <a:ext cx="3154508" cy="3154508"/>
          </a:xfrm>
          <a:prstGeom prst="rect">
            <a:avLst/>
          </a:prstGeom>
        </p:spPr>
      </p:pic>
      <p:pic>
        <p:nvPicPr>
          <p:cNvPr id="38" name="Graphic 37" descr="Plant with solid fill">
            <a:extLst>
              <a:ext uri="{FF2B5EF4-FFF2-40B4-BE49-F238E27FC236}">
                <a16:creationId xmlns:a16="http://schemas.microsoft.com/office/drawing/2014/main" id="{323C6927-3091-AB03-7B5E-E997023513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22567">
            <a:off x="16445220" y="-3912826"/>
            <a:ext cx="3154508" cy="3154508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FCFCC-1269-F9B7-1206-18D38B1243E4}"/>
              </a:ext>
            </a:extLst>
          </p:cNvPr>
          <p:cNvSpPr/>
          <p:nvPr/>
        </p:nvSpPr>
        <p:spPr>
          <a:xfrm>
            <a:off x="-2657213" y="692578"/>
            <a:ext cx="2552501" cy="2736421"/>
          </a:xfrm>
          <a:prstGeom prst="roundRect">
            <a:avLst>
              <a:gd name="adj" fmla="val 30220"/>
            </a:avLst>
          </a:prstGeom>
          <a:blipFill>
            <a:blip r:embed="rId12"/>
            <a:stretch>
              <a:fillRect l="-574" t="-1419" r="-153" b="-324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6B0D1B5-8714-8C85-A9D3-D02DD3BD5933}"/>
              </a:ext>
            </a:extLst>
          </p:cNvPr>
          <p:cNvSpPr/>
          <p:nvPr/>
        </p:nvSpPr>
        <p:spPr>
          <a:xfrm>
            <a:off x="12417224" y="692578"/>
            <a:ext cx="3079502" cy="1999300"/>
          </a:xfrm>
          <a:prstGeom prst="roundRect">
            <a:avLst>
              <a:gd name="adj" fmla="val 6263"/>
            </a:avLst>
          </a:prstGeom>
          <a:blipFill>
            <a:blip r:embed="rId13"/>
            <a:stretch>
              <a:fillRect l="-574" t="-1419" r="-153" b="-324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7C0F745-A0D1-CA34-F7CA-BD286E35AA88}"/>
              </a:ext>
            </a:extLst>
          </p:cNvPr>
          <p:cNvSpPr/>
          <p:nvPr/>
        </p:nvSpPr>
        <p:spPr>
          <a:xfrm>
            <a:off x="12417224" y="-852659"/>
            <a:ext cx="2155095" cy="1399149"/>
          </a:xfrm>
          <a:prstGeom prst="roundRect">
            <a:avLst>
              <a:gd name="adj" fmla="val 50000"/>
            </a:avLst>
          </a:prstGeom>
          <a:blipFill>
            <a:blip r:embed="rId14"/>
            <a:stretch>
              <a:fillRect l="-574" t="-1419" r="-153" b="-324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72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250">
        <p159:morph option="byObject"/>
      </p:transition>
    </mc:Choice>
    <mc:Fallback xmlns="">
      <p:transition advClick="0" advTm="25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94385A-F455-A904-6714-5A0178156804}"/>
              </a:ext>
            </a:extLst>
          </p:cNvPr>
          <p:cNvSpPr/>
          <p:nvPr/>
        </p:nvSpPr>
        <p:spPr>
          <a:xfrm>
            <a:off x="0" y="-16583237"/>
            <a:ext cx="12192000" cy="2225132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dist="12700" dir="54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51D277-25BC-DE3D-787B-6FC00413C853}"/>
              </a:ext>
            </a:extLst>
          </p:cNvPr>
          <p:cNvSpPr txBox="1"/>
          <p:nvPr/>
        </p:nvSpPr>
        <p:spPr>
          <a:xfrm>
            <a:off x="1833716" y="1753504"/>
            <a:ext cx="85245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5B210D-9416-F5E2-169D-4C7E4837E050}"/>
              </a:ext>
            </a:extLst>
          </p:cNvPr>
          <p:cNvSpPr txBox="1"/>
          <p:nvPr/>
        </p:nvSpPr>
        <p:spPr>
          <a:xfrm>
            <a:off x="1940766" y="-5457575"/>
            <a:ext cx="83104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 Nautilus and other shells: </a:t>
            </a:r>
            <a:r>
              <a:rPr lang="en-IN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Spirals and growth reflect golden rectangle proportions.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 Sunflower seeds, pinecones, flower petals: </a:t>
            </a:r>
            <a:r>
              <a:rPr lang="en-IN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Spiral and arrangement patterns follow golden rectangle and </a:t>
            </a:r>
            <a:r>
              <a:rPr lang="en-US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Fibonacci Sequence</a:t>
            </a:r>
            <a:endParaRPr lang="en-IN" sz="1600" b="1" i="0" dirty="0">
              <a:solidFill>
                <a:schemeClr val="accent1">
                  <a:lumMod val="50000"/>
                </a:schemeClr>
              </a:solidFill>
              <a:effectLst/>
              <a:latin typeface="Bahnschrift SemiBold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 Galaxies: </a:t>
            </a:r>
            <a:r>
              <a:rPr lang="en-IN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Bahnschrift SemiBold" panose="020B0502040204020203" pitchFamily="34" charset="0"/>
              </a:rPr>
              <a:t>Spiral arms approximate a logarithmic spiral related to the golden ratio.</a:t>
            </a:r>
            <a:endParaRPr lang="en-IN" sz="1600" b="1" dirty="0">
              <a:solidFill>
                <a:schemeClr val="accent1">
                  <a:lumMod val="50000"/>
                </a:schemeClr>
              </a:solidFill>
              <a:effectLst/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24CEDE1-B0AE-EE42-6D29-0CC048CB6CE8}"/>
              </a:ext>
            </a:extLst>
          </p:cNvPr>
          <p:cNvGrpSpPr/>
          <p:nvPr/>
        </p:nvGrpSpPr>
        <p:grpSpPr>
          <a:xfrm>
            <a:off x="3836327" y="-9670341"/>
            <a:ext cx="3897973" cy="4694991"/>
            <a:chOff x="1990766" y="2937249"/>
            <a:chExt cx="1323439" cy="1675410"/>
          </a:xfrm>
        </p:grpSpPr>
        <p:pic>
          <p:nvPicPr>
            <p:cNvPr id="25" name="Graphic 24" descr="Forest scene with solid fill">
              <a:extLst>
                <a:ext uri="{FF2B5EF4-FFF2-40B4-BE49-F238E27FC236}">
                  <a16:creationId xmlns:a16="http://schemas.microsoft.com/office/drawing/2014/main" id="{E6961EA1-43D1-C253-607C-7EBB27DA0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90766" y="2937249"/>
              <a:ext cx="1323439" cy="1323439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A446E4-1852-FBD2-CC09-509658A417F5}"/>
                </a:ext>
              </a:extLst>
            </p:cNvPr>
            <p:cNvSpPr txBox="1"/>
            <p:nvPr/>
          </p:nvSpPr>
          <p:spPr>
            <a:xfrm>
              <a:off x="1990766" y="4089439"/>
              <a:ext cx="13234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Nature</a:t>
              </a:r>
            </a:p>
          </p:txBody>
        </p:sp>
      </p:grpSp>
      <p:pic>
        <p:nvPicPr>
          <p:cNvPr id="27" name="Graphic 26" descr="Apple with solid fill">
            <a:extLst>
              <a:ext uri="{FF2B5EF4-FFF2-40B4-BE49-F238E27FC236}">
                <a16:creationId xmlns:a16="http://schemas.microsoft.com/office/drawing/2014/main" id="{C26DFF3E-6046-92A1-9524-521A93FD5B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494638">
            <a:off x="21298269" y="-6953515"/>
            <a:ext cx="3154508" cy="3154508"/>
          </a:xfrm>
          <a:prstGeom prst="rect">
            <a:avLst/>
          </a:prstGeom>
        </p:spPr>
      </p:pic>
      <p:pic>
        <p:nvPicPr>
          <p:cNvPr id="32" name="Graphic 31" descr="Earth globe: Africa and Europe with solid fill">
            <a:extLst>
              <a:ext uri="{FF2B5EF4-FFF2-40B4-BE49-F238E27FC236}">
                <a16:creationId xmlns:a16="http://schemas.microsoft.com/office/drawing/2014/main" id="{0AF141B4-3972-F54D-8BE8-0F8E06DDCC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362320">
            <a:off x="3553664" y="-12804854"/>
            <a:ext cx="3154508" cy="3154508"/>
          </a:xfrm>
          <a:prstGeom prst="rect">
            <a:avLst/>
          </a:prstGeom>
        </p:spPr>
      </p:pic>
      <p:pic>
        <p:nvPicPr>
          <p:cNvPr id="34" name="Graphic 33" descr="Flower without stem with solid fill">
            <a:extLst>
              <a:ext uri="{FF2B5EF4-FFF2-40B4-BE49-F238E27FC236}">
                <a16:creationId xmlns:a16="http://schemas.microsoft.com/office/drawing/2014/main" id="{F1097A46-3841-0E50-EA0F-486A59BB5B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9809789">
            <a:off x="-9784473" y="-6879835"/>
            <a:ext cx="3154508" cy="3154508"/>
          </a:xfrm>
          <a:prstGeom prst="rect">
            <a:avLst/>
          </a:prstGeom>
        </p:spPr>
      </p:pic>
      <p:pic>
        <p:nvPicPr>
          <p:cNvPr id="36" name="Graphic 35" descr="Leaf with solid fill">
            <a:extLst>
              <a:ext uri="{FF2B5EF4-FFF2-40B4-BE49-F238E27FC236}">
                <a16:creationId xmlns:a16="http://schemas.microsoft.com/office/drawing/2014/main" id="{29BF9637-8C00-0E08-F164-FF7994668D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9986447">
            <a:off x="-7065034" y="914290"/>
            <a:ext cx="3154508" cy="3154508"/>
          </a:xfrm>
          <a:prstGeom prst="rect">
            <a:avLst/>
          </a:prstGeom>
        </p:spPr>
      </p:pic>
      <p:pic>
        <p:nvPicPr>
          <p:cNvPr id="38" name="Graphic 37" descr="Plant with solid fill">
            <a:extLst>
              <a:ext uri="{FF2B5EF4-FFF2-40B4-BE49-F238E27FC236}">
                <a16:creationId xmlns:a16="http://schemas.microsoft.com/office/drawing/2014/main" id="{323C6927-3091-AB03-7B5E-E997023513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22567">
            <a:off x="16669048" y="-501973"/>
            <a:ext cx="3154508" cy="31545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286C89-987C-F971-4136-5711E40B4842}"/>
              </a:ext>
            </a:extLst>
          </p:cNvPr>
          <p:cNvSpPr txBox="1"/>
          <p:nvPr/>
        </p:nvSpPr>
        <p:spPr>
          <a:xfrm>
            <a:off x="4942114" y="3326075"/>
            <a:ext cx="230777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solidFill>
                  <a:schemeClr val="tx2">
                    <a:lumMod val="90000"/>
                    <a:lumOff val="10000"/>
                  </a:schemeClr>
                </a:solidFill>
                <a:latin typeface="Bahnschrift SemiBold" panose="020B0502040204020203" pitchFamily="34" charset="0"/>
              </a:rPr>
              <a:t>Reference</a:t>
            </a:r>
          </a:p>
          <a:p>
            <a:pPr algn="ctr"/>
            <a:r>
              <a:rPr lang="en-US" sz="2000" u="sng" dirty="0">
                <a:solidFill>
                  <a:schemeClr val="tx2">
                    <a:lumMod val="90000"/>
                    <a:lumOff val="10000"/>
                  </a:schemeClr>
                </a:solidFill>
                <a:latin typeface="Bahnschrift SemiBold" panose="020B0502040204020203" pitchFamily="34" charset="0"/>
              </a:rPr>
              <a:t> </a:t>
            </a:r>
          </a:p>
          <a:p>
            <a:pPr algn="ct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ahnschrift SemiBold" panose="020B0502040204020203" pitchFamily="34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Canva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Bahnschrift SemiBold" panose="020B0502040204020203" pitchFamily="34" charset="0"/>
            </a:endParaRPr>
          </a:p>
          <a:p>
            <a:pPr algn="ct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ahnschrift SemiBold" panose="020B0502040204020203" pitchFamily="34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Bahnschrift SemiBold" panose="020B0502040204020203" pitchFamily="34" charset="0"/>
            </a:endParaRPr>
          </a:p>
          <a:p>
            <a:pPr algn="ctr"/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Bahnschrift SemiBold" panose="020B0502040204020203" pitchFamily="34" charset="0"/>
              </a:rPr>
              <a:t>NotebookLM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Bahnschrift SemiBold" panose="020B0502040204020203" pitchFamily="34" charset="0"/>
            </a:endParaRPr>
          </a:p>
          <a:p>
            <a:pPr algn="ct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ahnschrift SemiBold" panose="020B0502040204020203" pitchFamily="34" charset="0"/>
              </a:rPr>
              <a:t>Google</a:t>
            </a:r>
          </a:p>
        </p:txBody>
      </p:sp>
    </p:spTree>
    <p:extLst>
      <p:ext uri="{BB962C8B-B14F-4D97-AF65-F5344CB8AC3E}">
        <p14:creationId xmlns:p14="http://schemas.microsoft.com/office/powerpoint/2010/main" val="4217696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Maths Assingment Class 10 Shreyy Madgaonkar Roll no 06</Template>
  <TotalTime>0</TotalTime>
  <Words>2060</Words>
  <Application>Microsoft Office PowerPoint</Application>
  <PresentationFormat>Widescreen</PresentationFormat>
  <Paragraphs>161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Bahnschrift SemiBold</vt:lpstr>
      <vt:lpstr>Arial</vt:lpstr>
      <vt:lpstr>Aptos Display</vt:lpstr>
      <vt:lpstr>Bahnschrift Condensed</vt:lpstr>
      <vt:lpstr>Yantramanav Black</vt:lpstr>
      <vt:lpstr>Bahnschrift SemiBold Condensed</vt:lpstr>
      <vt:lpstr>Rockwell</vt:lpstr>
      <vt:lpstr>Aptos</vt:lpstr>
      <vt:lpstr>Bahnschrift SemiBold SemiConden</vt:lpstr>
      <vt:lpstr>Arial Black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shreyymadgaonkar@gmail.com</dc:creator>
  <cp:lastModifiedBy>shreyymadgaonkar@gmail.com</cp:lastModifiedBy>
  <cp:revision>1</cp:revision>
  <dcterms:created xsi:type="dcterms:W3CDTF">2026-01-05T14:02:06Z</dcterms:created>
  <dcterms:modified xsi:type="dcterms:W3CDTF">2026-01-05T14:02:25Z</dcterms:modified>
</cp:coreProperties>
</file>